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B1E2D"/>
          </a:solidFill>
          <a:ln w="12700">
            <a:solidFill>
              <a:srgbClr val="0B1E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645920"/>
            <a:ext cx="2286000" cy="1828800"/>
          </a:xfrm>
          <a:prstGeom prst="rect">
            <a:avLst/>
          </a:prstGeom>
          <a:solidFill>
            <a:srgbClr val="0E7C86">
              <a:alpha val="30000"/>
            </a:srgbClr>
          </a:solidFill>
          <a:ln w="12700">
            <a:solidFill>
              <a:srgbClr val="0E7C8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2296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SERVICENOW PROJECT BLUEPRINT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Planner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11480" y="2852928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Leave Registration, Approval &amp; Notification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ServiceNow — CGSS IT Department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5029200" cy="0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of Operations – IT  |  CGSS Kuala Lumpur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and why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109728" cy="7498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2527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" y="148132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 are manual, inconsistent, and lack real-time visibility across 5 companies with different locations and person categories.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8503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84832"/>
            <a:ext cx="109728" cy="7498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237744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ServiceNow-native Leave Planner that digitises registration, auto-validates requests against live leave balances, and fires instant email notifications to both employee and manager.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80944"/>
            <a:ext cx="8503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80944"/>
            <a:ext cx="109728" cy="7498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044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" y="327355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approval overhead for standard leave cases. Full audit trail. Real-time leave balance dashboard.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877056"/>
            <a:ext cx="8503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877056"/>
            <a:ext cx="109728" cy="7498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9410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" y="4169664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companies · Multiple leave types · Employee self-service portal · Admin data-entry module · Automated business rules engine · Email notifications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on ServiceNow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325880"/>
            <a:ext cx="1783080" cy="123444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" y="20574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form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48840" y="1325880"/>
            <a:ext cx="1783080" cy="123444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48840" y="20574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leave balances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0" y="1325880"/>
            <a:ext cx="1783080" cy="12344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0" y="20574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approve / decline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178308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80760" y="20574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records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46720" y="1325880"/>
            <a:ext cx="1783080" cy="1234440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20574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&amp; manager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65960" y="1938528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18562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931920" y="1938528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18562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97880" y="1938528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8562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863840" y="1938528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18562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2834640"/>
            <a:ext cx="202996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37744" y="2889504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29077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submits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6032" y="329184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form: ID, leave type, dates. Clicks Submit.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95728" y="2834640"/>
            <a:ext cx="202996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50592" y="2889504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50592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52928" y="29077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runs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468880" y="329184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checks leave balance by type &amp; category.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08576" y="2834640"/>
            <a:ext cx="202996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889504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65776" y="29077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updates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81728" y="329184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approved, balance decremented automatically.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21424" y="2834640"/>
            <a:ext cx="202996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76288" y="2889504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76288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78624" y="29077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94576" y="3291840"/>
            <a:ext cx="1883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employee &amp; manager receive confirmation.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Admin Data Entry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Pre-loading employee leave balances before go-live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371600" cy="246888"/>
          </a:xfrm>
          <a:prstGeom prst="roundRect">
            <a:avLst>
              <a:gd name="adj" fmla="val 18519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ADMIN ONLY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Why this exists: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employees can use the system, all existing leave balances must be entered manually. This ensures Day 1 accuracy — the engine will have correct data to validate against from the start.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</a:rPr>
              <a:t>Data Fields to Enter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2240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A80"/>
                </a:solidFill>
              </a:rPr>
              <a:t>System Capabilities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542032"/>
            <a:ext cx="4114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542032"/>
            <a:ext cx="4114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15768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 &amp; Full Name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900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Company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92424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284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 (Annual, Medical, Other…)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730752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667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Entitlement per type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0050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already taken (pre-existing)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343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balance (auto-calculated)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715768"/>
            <a:ext cx="82296" cy="822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651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via Excel upload (future phase)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054096"/>
            <a:ext cx="82296" cy="822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9900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row-by-row entry form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392424"/>
            <a:ext cx="82296" cy="822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33284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correction capability for admin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730752"/>
            <a:ext cx="82296" cy="822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6667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rules: no negative balances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4069080"/>
            <a:ext cx="82296" cy="822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40050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who entered / modified data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4407408"/>
            <a:ext cx="82296" cy="822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4343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records after approval period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892040"/>
            <a:ext cx="8503920" cy="457200"/>
          </a:xfrm>
          <a:prstGeom prst="rect">
            <a:avLst/>
          </a:prstGeom>
          <a:solidFill>
            <a:srgbClr val="FFF8E1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4892040"/>
            <a:ext cx="91440" cy="457200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9194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This module must be completed and signed off by HR before the employee portal goes live.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Employee Registration 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employee sees and fills 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3891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Leave Request 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023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Employee ID / Name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911096"/>
            <a:ext cx="4041648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1109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</a:rPr>
              <a:t>Auto-filled from SSO login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1305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Company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350008"/>
            <a:ext cx="4041648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500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</a:rPr>
              <a:t>Dropdown (5 companies)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56946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Leave Type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788920"/>
            <a:ext cx="4041648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88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</a:rPr>
              <a:t>Annual / Medical / Other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00837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Start Date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3227832"/>
            <a:ext cx="4041648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278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</a:rPr>
              <a:t>Date picker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4472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End Date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666744"/>
            <a:ext cx="4041648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667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</a:rPr>
              <a:t>Date picker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8862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Reason (optional)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4105656"/>
            <a:ext cx="4041648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056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</a:rPr>
              <a:t>Free text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4434840"/>
            <a:ext cx="1828800" cy="3017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4348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SUBMIT REQUEST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1143000"/>
            <a:ext cx="3977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0" y="1197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SSO Integration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0" y="146304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Employee ID and name auto-populated from ServiceNow session. No manual entry needed.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057400"/>
            <a:ext cx="3977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0" y="2112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Date Validation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0" y="237744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System rejects past dates, weekends, and public holidays automatically.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971800"/>
            <a:ext cx="3977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30266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Instant Feedback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0" y="329184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After Submit, employee sees approval/decline result on screen before the email arrives.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886200"/>
            <a:ext cx="3977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0" y="39410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Leave Balance Preview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0" y="420624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Available balance for selected leave type shown before submission.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Automated Approval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system — runs instantly on Submit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20240" cy="50292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Request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Received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0" y="1234440"/>
            <a:ext cx="1920240" cy="50292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Identify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Leave Type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212080" y="1234440"/>
            <a:ext cx="1920240" cy="5029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Check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Balance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98080" y="1234440"/>
            <a:ext cx="13716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0" y="1234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Decide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94560" y="148590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408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▶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63440" y="148590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408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▶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132320" y="14859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14081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▶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583680" y="2286000"/>
            <a:ext cx="2286000" cy="502920"/>
          </a:xfrm>
          <a:prstGeom prst="rect">
            <a:avLst/>
          </a:prstGeom>
          <a:solidFill>
            <a:srgbClr val="386641"/>
          </a:solidFill>
          <a:ln w="12700">
            <a:solidFill>
              <a:srgbClr val="3866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✔  APPROVED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1737360"/>
            <a:ext cx="0" cy="548640"/>
          </a:xfrm>
          <a:prstGeom prst="line">
            <a:avLst/>
          </a:prstGeom>
          <a:noFill/>
          <a:ln w="19050">
            <a:solidFill>
              <a:srgbClr val="3866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3383280"/>
            <a:ext cx="2286000" cy="50292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✘  DECLINED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83880" y="1737360"/>
            <a:ext cx="0" cy="1645920"/>
          </a:xfrm>
          <a:prstGeom prst="line">
            <a:avLst/>
          </a:prstGeom>
          <a:noFill/>
          <a:ln w="9525">
            <a:solidFill>
              <a:srgbClr val="AE2012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74320" y="2103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Business Rules Applied by the Engine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468880"/>
            <a:ext cx="2788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" y="25328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</a:rPr>
              <a:t>Sufficient Balance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" y="2788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Leave days requested ≤ remaining balance for that type → APPROVE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319272"/>
            <a:ext cx="2788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33832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</a:rPr>
              <a:t>Zero Balance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" y="36393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 remaining leave in requested category → AUTO DECLINE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169664"/>
            <a:ext cx="2788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4048" y="423367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</a:rPr>
              <a:t>Overlap Check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" y="44897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Requested dates overlap existing approved leave → DECLINE with reason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91840" y="2468880"/>
            <a:ext cx="2788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401568" y="25328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</a:rPr>
              <a:t>Min Notice Rule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01568" y="2788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Request submitted &lt;X days before start → flag for manual review (configurable)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91840" y="3319272"/>
            <a:ext cx="2788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401568" y="33832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</a:rPr>
              <a:t>Blackout Periods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01568" y="36393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Dates fall inside admin-locked periods → DECLINE with reason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91840" y="4169664"/>
            <a:ext cx="2788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401568" y="423367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</a:rPr>
              <a:t>Partial Approval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01568" y="44897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(Future) If partial days available — partially approve remaining balance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Database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tables and key data relationships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834640" cy="45720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070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x_leave_employee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4447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</a:rPr>
              <a:t>Employee Master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645920"/>
            <a:ext cx="283464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" y="17373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employee_id (PK)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1752" y="1993392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0391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full_name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1752" y="2295144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408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1752" y="2596896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64261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" y="2898648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9443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1752" y="3200400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2461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manager_id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1188720"/>
            <a:ext cx="2834640" cy="4572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2070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x_leave_balance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46120" y="14447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</a:rPr>
              <a:t>Leave Balances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46120" y="1645920"/>
            <a:ext cx="283464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10712" y="17373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balance_id (PK)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19272" y="1993392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0391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employee_id (FK)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19272" y="2295144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23408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leave_type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19272" y="2596896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264261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total_entitlement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19272" y="2898648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29443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19272" y="3200400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32461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1188720"/>
            <a:ext cx="28346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12070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x_leave_request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14447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</a:rPr>
              <a:t>Leave Requests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63640" y="1645920"/>
            <a:ext cx="2834640" cy="25054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28232" y="17373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request_id (PK)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36792" y="1993392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20391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employee_id (FK)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36792" y="2295144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23408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leave_type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36792" y="2596896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264261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start_date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36792" y="2898648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29443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end_date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36792" y="3200400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32461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days_count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36792" y="3502152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354787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36792" y="3803904"/>
            <a:ext cx="269748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232" y="384962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created_on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063240" y="2377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09F3E"/>
                </a:solidFill>
              </a:rPr>
              <a:t>employee_id →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053328" y="2377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09F3E"/>
                </a:solidFill>
              </a:rPr>
              <a:t>employee_id →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063240" y="2395728"/>
            <a:ext cx="201168" cy="0"/>
          </a:xfrm>
          <a:prstGeom prst="line">
            <a:avLst/>
          </a:prstGeom>
          <a:noFill/>
          <a:ln w="12700">
            <a:solidFill>
              <a:srgbClr val="E09F3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53328" y="2395728"/>
            <a:ext cx="201168" cy="0"/>
          </a:xfrm>
          <a:prstGeom prst="line">
            <a:avLst/>
          </a:prstGeom>
          <a:noFill/>
          <a:ln w="12700">
            <a:solidFill>
              <a:srgbClr val="E09F3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" y="4160520"/>
            <a:ext cx="8686800" cy="777240"/>
          </a:xfrm>
          <a:prstGeom prst="rect">
            <a:avLst/>
          </a:prstGeom>
          <a:solidFill>
            <a:srgbClr val="EBF5FB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28600" y="4160520"/>
            <a:ext cx="109728" cy="7772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8912" y="4206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</a:rPr>
              <a:t>Leave Types (configurable)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02920" y="4526280"/>
            <a:ext cx="73152" cy="7315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44805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Annual Leave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920240" y="4526280"/>
            <a:ext cx="73152" cy="7315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57400" y="44805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Medical / Sick Leave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337560" y="4526280"/>
            <a:ext cx="73152" cy="7315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0" y="44805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Unpaid Leave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54880" y="4526280"/>
            <a:ext cx="73152" cy="7315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92040" y="44805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Maternity / Paternity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172200" y="4526280"/>
            <a:ext cx="73152" cy="7315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09360" y="44805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Emergency Leave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589520" y="4526280"/>
            <a:ext cx="73152" cy="7315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26680" y="44805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Study Leave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Email Notifications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confirmations triggered on every decision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60520" cy="2743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Email to: Employee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1605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361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Subject: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</a:rPr>
              <a:t>Leave Request – APPROVED 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3858768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21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[Employee Name],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Annual Leave request for 3 days (Mon 05 May – Wed 07 May 2026) has been APPROVED.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9077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Annual Leave balance: 8 days.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3009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required. Have a great break!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36941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HR Leave System, CGSS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170432"/>
            <a:ext cx="4160520" cy="27432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1704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Email to: Manager / Boss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444752"/>
            <a:ext cx="41605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5361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Subject: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00600" y="17373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</a:rPr>
              <a:t>FYI: Leave Approved – [Employee Name]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029968"/>
            <a:ext cx="3858768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121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[Manager Name],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2514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automated notification.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29077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[Employee Name] (ID: EMP-0042) has been approved for Annual Leave: 3 days (05–07 May 2026).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33009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plan team coverage accordingly.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36941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HR Leave System, CGSS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4526280"/>
            <a:ext cx="2011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4048" y="45628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Trigger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Fired by ServiceNow Business Rule on status change (Approved / Declined)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87168" y="4526280"/>
            <a:ext cx="2011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96896" y="45628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Template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96896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HTML email templates stored in Notification records — fully customisable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0016" y="4526280"/>
            <a:ext cx="2011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9744" y="45628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Decline Email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9744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Sent to employee with reason; manager optionally CC'd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12864" y="4526280"/>
            <a:ext cx="2011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022592" y="45628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</a:rPr>
              <a:t>Logging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22592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All sent emails logged in ServiceNow for audit trail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Haven't Thought Of Yet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 to address before development starts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207008"/>
            <a:ext cx="42519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07008"/>
            <a:ext cx="91440" cy="804672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710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Who approves manually?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9768" y="15544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For edge cases (no balance but justified request), define who the manual approver is — Line Manager, HR, or COO?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207008"/>
            <a:ext cx="42519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07008"/>
            <a:ext cx="91440" cy="804672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2710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5 companies = 5 rule sets?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10328" y="15544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 leave entitlements differ between your 5 companies? Each may need its own entitlement table and business rules.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2121408"/>
            <a:ext cx="42519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121408"/>
            <a:ext cx="91440" cy="804672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1854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Public holiday calendar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24688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Which country/region? Need a holiday table integrated so the system calculates working days, not calendar days.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2121408"/>
            <a:ext cx="42519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121408"/>
            <a:ext cx="91440" cy="804672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1854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Access control (roles)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10328" y="24688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Who can see whose data? Employee sees own. Manager sees team. HR sees all. Admin edits master data. Define roles.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3035808"/>
            <a:ext cx="42519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035808"/>
            <a:ext cx="91440" cy="804672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0998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Annual leave carry-over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" y="33832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Does unused leave roll over to next year? What's the cap? This needs a scheduled job at year-end to reset/carry-over.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035808"/>
            <a:ext cx="42519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035808"/>
            <a:ext cx="91440" cy="804672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30998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Retroactive leaves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10328" y="33832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Can employees apply for leave after it has passed (e.g. emergency sick day)? System must handle backdated submissions.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3950208"/>
            <a:ext cx="42519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950208"/>
            <a:ext cx="91440" cy="804672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40142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Manager / HR dashboard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9768" y="42976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Visibility of team leave calendar, peak absence periods, balance summaries — needed for planning. Not just email notifications.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3950208"/>
            <a:ext cx="42519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950208"/>
            <a:ext cx="91440" cy="804672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40142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UAT &amp; change management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10328" y="42976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Who tests the system before go-live? Who trains the users? HR and managers need onboarding, not just IT.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 &amp;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delivery sequence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2057400" cy="566928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61872"/>
            <a:ext cx="347472" cy="34747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12435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Discovery &amp; Setup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" y="151790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ADC"/>
                </a:solidFill>
              </a:rPr>
              <a:t>Week 1–2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1755648"/>
            <a:ext cx="2057400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11096"/>
            <a:ext cx="82296" cy="822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4708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Finalize leave types per company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295144"/>
            <a:ext cx="82296" cy="822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3113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Define roles &amp; access levels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679192"/>
            <a:ext cx="82296" cy="822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1518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Set up ServiceNow instance/scope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82296" cy="822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992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Agree on public holiday calendar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77440" y="1188720"/>
            <a:ext cx="2057400" cy="5669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1261872"/>
            <a:ext cx="347472" cy="34747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71216" y="12435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Entry Module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71216" y="151790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ADC"/>
                </a:solidFill>
              </a:rPr>
              <a:t>Week 2–3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77440" y="1755648"/>
            <a:ext cx="2057400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14600" y="1911096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184708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Build admin input form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14600" y="2295144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223113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Import existing employee data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14600" y="2679192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261518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Validate leave balances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14600" y="3063240"/>
            <a:ext cx="82296" cy="822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29992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HR sign-off on data accuracy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1188720"/>
            <a:ext cx="20574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5152" y="1261872"/>
            <a:ext cx="347472" cy="34747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65776" y="12435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Registration &amp; Engine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65776" y="151790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ADC"/>
                </a:solidFill>
              </a:rPr>
              <a:t>Week 3–5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0" y="1755648"/>
            <a:ext cx="2057400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1911096"/>
            <a:ext cx="82296" cy="8229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184708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Build employee leave form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2295144"/>
            <a:ext cx="82296" cy="8229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23113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Code business rules engine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160" y="2679192"/>
            <a:ext cx="82296" cy="8229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61518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Database table design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09160" y="3063240"/>
            <a:ext cx="82296" cy="8229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9992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Unit test approval logic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766560" y="1188720"/>
            <a:ext cx="2057400" cy="566928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39712" y="1261872"/>
            <a:ext cx="347472" cy="34747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9712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60336" y="12435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Notifications &amp; UAT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60336" y="151790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ADC"/>
                </a:solidFill>
              </a:rPr>
              <a:t>Week 5–6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766560" y="1755648"/>
            <a:ext cx="2057400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03720" y="1911096"/>
            <a:ext cx="82296" cy="8229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40880" y="184708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Configure email templates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903720" y="2295144"/>
            <a:ext cx="82296" cy="8229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0880" y="223113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End-to-end testing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903720" y="2679192"/>
            <a:ext cx="82296" cy="8229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0880" y="261518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User Acceptance Testing (UAT)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903720" y="3063240"/>
            <a:ext cx="82296" cy="8229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0" y="29992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Bug fixes &amp; go-live prep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82880" y="4343400"/>
            <a:ext cx="8778240" cy="548640"/>
          </a:xfrm>
          <a:prstGeom prst="rect">
            <a:avLst/>
          </a:prstGeom>
          <a:solidFill>
            <a:srgbClr val="E8F4FD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82880" y="4343400"/>
            <a:ext cx="91440" cy="54864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" y="44074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delivery: 6 weeks from kickoff  ·  Team: 1 ServiceNow developer + 1 PM (Mike) + HR data owner  ·  Storage &amp; infrastructure: ServiceNow (existing license)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4572000" cy="0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111556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sign-off on this blueprint with IT Chief of Operations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764792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64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17830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to confirm leave type list, entitlements, and company-specific rules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2450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developer scoping session (estimate story points)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9981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311810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Data Entry module built first — HR loads all existing balances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767328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" y="378561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delivery with UAT sign-off before go-live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Mike Uhrinek  ·  Data Analytics &amp; AI Specialist  ·  CGSS Kuala Lumpur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Leave Planner System – Blueprint</dc:title>
  <dc:subject>PptxGenJS Presentation</dc:subject>
  <dc:creator>PptxGenJS</dc:creator>
  <cp:lastModifiedBy>PptxGenJS</cp:lastModifiedBy>
  <cp:revision>1</cp:revision>
  <dcterms:created xsi:type="dcterms:W3CDTF">2026-04-28T11:30:43Z</dcterms:created>
  <dcterms:modified xsi:type="dcterms:W3CDTF">2026-04-28T11:30:43Z</dcterms:modified>
</cp:coreProperties>
</file>