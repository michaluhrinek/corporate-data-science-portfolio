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94A3B8"/>
                </a:solidFill>
                <a:latin typeface="Arial"/>
              </a:rPr>
              <a:t>Average Knowledge Retention Rate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 %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4DC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Lecture</c:v>
                  </c:pt>
                  <c:pt idx="1">
                    <c:v>Reading</c:v>
                  </c:pt>
                  <c:pt idx="2">
                    <c:v>Video</c:v>
                  </c:pt>
                  <c:pt idx="3">
                    <c:v>Demo + Practice</c:v>
                  </c:pt>
                  <c:pt idx="4">
                    <c:v>Teaching Others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75</c:v>
                </c:pt>
                <c:pt idx="4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A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457200"/>
            <a:ext cx="2011680" cy="201168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274320"/>
            <a:ext cx="914400" cy="914400"/>
          </a:xfrm>
          <a:prstGeom prst="ellipse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731520"/>
            <a:ext cx="457200" cy="457200"/>
          </a:xfrm>
          <a:prstGeom prst="ellipse">
            <a:avLst/>
          </a:prstGeom>
          <a:solidFill>
            <a:srgbClr val="2563EB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5029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</a:rPr>
              <a:t>INVESTOR &amp; BUSINESS BRIEFING  ·  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SkillShare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CBD5E1"/>
                </a:solidFill>
              </a:rPr>
              <a:t>Book a Local Expert.</a:t>
            </a:r>
            <a:endParaRPr lang="en-US" sz="1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CBD5E1"/>
                </a:solidFill>
              </a:rPr>
              <a:t>Learn in Hours, Not Months.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65760" y="3154680"/>
            <a:ext cx="20116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2918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Founder: Michal Uhrinek  ·  Kuala Lumpur  ·  Beta Phase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777240"/>
            <a:ext cx="2697480" cy="118872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777240"/>
            <a:ext cx="2697480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3" name="Text 11"/>
          <p:cNvSpPr/>
          <p:nvPr/>
        </p:nvSpPr>
        <p:spPr>
          <a:xfrm>
            <a:off x="6236208" y="886968"/>
            <a:ext cx="2478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6–9 YRS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236208" y="1490472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Average learning-to-contribution gap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(traditional pipeline)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148840"/>
            <a:ext cx="2697480" cy="118872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148840"/>
            <a:ext cx="26974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236208" y="2258568"/>
            <a:ext cx="2478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1–3 HRS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236208" y="2862072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Time to learn a skill with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SkillShare hands-on session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3474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8BDF8"/>
                </a:solidFill>
              </a:rPr>
              <a:t>Narrowing the gap. Accelerating humanity.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SkillShare — Investor Briefing 2025  |  Confidential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0" y="4892040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 / 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Learning Pipeline Is Broken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04241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6 to 9 years from high school to meaningful job contribution — while AI waits for no one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578608"/>
            <a:ext cx="7955280" cy="5029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359152"/>
            <a:ext cx="457200" cy="457200"/>
          </a:xfrm>
          <a:prstGeom prst="ellipse">
            <a:avLst/>
          </a:prstGeom>
          <a:solidFill>
            <a:srgbClr val="94A3B8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2907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1B3E"/>
                </a:solidFill>
              </a:rPr>
              <a:t>High School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Theory only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87168" y="2359152"/>
            <a:ext cx="457200" cy="457200"/>
          </a:xfrm>
          <a:prstGeom prst="ellipse">
            <a:avLst/>
          </a:prstGeom>
          <a:solidFill>
            <a:srgbClr val="1A4DC7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29968" y="2907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1B3E"/>
                </a:solidFill>
              </a:rPr>
              <a:t>University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1B3E"/>
                </a:solidFill>
              </a:rPr>
              <a:t>3–5 yrs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29968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Still theory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42816" y="2359152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85616" y="2907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1B3E"/>
                </a:solidFill>
              </a:rPr>
              <a:t>Internship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1B3E"/>
                </a:solidFill>
              </a:rPr>
              <a:t>6–12 mo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85616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Shadowing others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98464" y="2359152"/>
            <a:ext cx="457200" cy="45720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41264" y="2907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1B3E"/>
                </a:solidFill>
              </a:rPr>
              <a:t>Junior Role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1B3E"/>
                </a:solidFill>
              </a:rPr>
              <a:t>1–2 yrs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41264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Trial &amp; error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54112" y="2359152"/>
            <a:ext cx="457200" cy="45720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96912" y="2907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1B3E"/>
                </a:solidFill>
              </a:rPr>
              <a:t>Productive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1B3E"/>
                </a:solidFill>
              </a:rPr>
              <a:t>Contributor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96912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Finally!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886200"/>
            <a:ext cx="8321040" cy="91440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041648"/>
            <a:ext cx="320040" cy="3200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05840" y="3959352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</a:rPr>
              <a:t>Average time from high school to meaningful job contribution: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58000" y="39319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6–9 YEARS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SkillShare — Investor Briefing 2025  |  Confidential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0" y="4892040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</a:rPr>
              <a:t>THE URGENCY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Is Not Waiting for Anyone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04241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</a:rPr>
              <a:t>The skills half-life is shrinking. The workforce gap is widening. The old pipeline can't keep up.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874520"/>
            <a:ext cx="1965960" cy="228600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874520"/>
            <a:ext cx="1965960" cy="502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9659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44%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2788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of workers' skills disrupted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within 5 years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474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World Economic Forum, 2023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68880" y="1874520"/>
            <a:ext cx="1965960" cy="228600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874520"/>
            <a:ext cx="1965960" cy="502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9659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85M+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560320" y="2788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jobs displaced by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automation by 2025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3474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WEF Future of Jobs Report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17720" y="1874520"/>
            <a:ext cx="1965960" cy="228600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874520"/>
            <a:ext cx="1965960" cy="502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9659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yrs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709160" y="2788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average skills half-life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in technology roles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3474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IBM Institute for Business Value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66560" y="1874520"/>
            <a:ext cx="1965960" cy="228600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874520"/>
            <a:ext cx="1965960" cy="5029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9659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in 3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858000" y="2788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employees lack skills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for their current role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474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LinkedIn Workforce Report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1480" y="43891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8BDF8"/>
                </a:solidFill>
              </a:rPr>
              <a:t>The world urgently needs a faster, more efficient way to transfer practical skills.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SkillShare — Investor Briefing 2025  | 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0" y="4892040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SkillShare: Grab for Human Expertise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04241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Register your skill → Appear on the map → Get booked → Teach in person → Earn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828800"/>
            <a:ext cx="1965960" cy="502920"/>
          </a:xfrm>
          <a:prstGeom prst="rect">
            <a:avLst/>
          </a:prstGeom>
          <a:solidFill>
            <a:srgbClr val="1A4DC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828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STEP 1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5059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30175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Register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29768" y="338328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List your skill — Power BI, Python, Linux, cooking, music, anything.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468880" y="182880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1828800"/>
            <a:ext cx="1965960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0"/>
          <p:cNvSpPr/>
          <p:nvPr/>
        </p:nvSpPr>
        <p:spPr>
          <a:xfrm>
            <a:off x="2468880" y="1828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STEP 2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450592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60320" y="30175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Discover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578608" y="338328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Learners search a skill. Live map shows you as a nearby expert pin.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17720" y="182880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17720" y="1828800"/>
            <a:ext cx="196596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5"/>
          <p:cNvSpPr/>
          <p:nvPr/>
        </p:nvSpPr>
        <p:spPr>
          <a:xfrm>
            <a:off x="4617720" y="1828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STEP 3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2450592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09160" y="30175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Book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727448" y="338328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One tap booking. You set your rate. Meet at a café, office, or online.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766560" y="182880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66560" y="1828800"/>
            <a:ext cx="1965960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5" name="Text 20"/>
          <p:cNvSpPr/>
          <p:nvPr/>
        </p:nvSpPr>
        <p:spPr>
          <a:xfrm>
            <a:off x="6766560" y="1828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STEP 4</a:t>
            </a:r>
            <a:endParaRPr lang="en-US" sz="11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2450592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58000" y="30175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Learn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6876288" y="338328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1–3 hour hands-on session. More effective than weeks of self-study.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2304288" y="3017520"/>
            <a:ext cx="201168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Shape 24"/>
          <p:cNvSpPr/>
          <p:nvPr/>
        </p:nvSpPr>
        <p:spPr>
          <a:xfrm>
            <a:off x="4453128" y="3017520"/>
            <a:ext cx="201168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Shape 25"/>
          <p:cNvSpPr/>
          <p:nvPr/>
        </p:nvSpPr>
        <p:spPr>
          <a:xfrm>
            <a:off x="6601968" y="3017520"/>
            <a:ext cx="201168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2" name="Text 26"/>
          <p:cNvSpPr/>
          <p:nvPr/>
        </p:nvSpPr>
        <p:spPr>
          <a:xfrm>
            <a:off x="41148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1B3E"/>
                </a:solidFill>
              </a:rPr>
              <a:t>Think of it as Grab — but the destination is your next skill.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SkillShare — Investor Briefing 2025  |  Confidential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0" y="4892040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</a:rPr>
              <a:t>THE SCIENCE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Learning Sticks Faster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04241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</a:rPr>
              <a:t>Retention science proves what we already know: doing beats watching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64592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15000" y="1645920"/>
            <a:ext cx="3017520" cy="310896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15000" y="1645920"/>
            <a:ext cx="3017520" cy="502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737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</a:rPr>
              <a:t>REAL PROOF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806440" y="210312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i="1" dirty="0">
                <a:solidFill>
                  <a:srgbClr val="FFFFFF"/>
                </a:solidFill>
              </a:rPr>
              <a:t>"I taught 2 colleagues everything they needed about Power BI in 1 hour. Self-taught, that same knowledge takes weeks of videos, trial-and-error, and scattered documentation."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806440" y="3749040"/>
            <a:ext cx="914400" cy="2743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8"/>
          <p:cNvSpPr/>
          <p:nvPr/>
        </p:nvSpPr>
        <p:spPr>
          <a:xfrm>
            <a:off x="5806440" y="38404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8BDF8"/>
                </a:solidFill>
              </a:rPr>
              <a:t>Michal Uhrinek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8BDF8"/>
                </a:solidFill>
              </a:rPr>
              <a:t>SkillShare Founder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" y="49194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8BDF8"/>
                </a:solidFill>
              </a:rPr>
              <a:t>SkillShare doesn't replace education. It accelerates the last mile.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SkillShare — Investor Briefing 2025  |  Confidential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0" y="4892040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</a:rPr>
              <a:t>THE PRODUCT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App Delivers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04241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Mobile-first. Map-powered. Booking in under 60 seconds.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737360"/>
            <a:ext cx="269748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737360"/>
            <a:ext cx="50292" cy="126187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8470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" y="18288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Live Skill Map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6344" y="224028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Real-time map shows nearby experts pinned by skill. Tap any pin to book.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72968" y="1737360"/>
            <a:ext cx="269748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72968" y="1737360"/>
            <a:ext cx="50292" cy="1261872"/>
          </a:xfrm>
          <a:prstGeom prst="rect">
            <a:avLst/>
          </a:prstGeom>
          <a:solidFill>
            <a:srgbClr val="1A4DC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84708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9896" y="18288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Instant Booking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19272" y="224028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Set time, place, price, and duration. Confirmation in one tap.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25896" y="1737360"/>
            <a:ext cx="269748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25896" y="1737360"/>
            <a:ext cx="50292" cy="1261872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4708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92824" y="18288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Expert Profiles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72200" y="224028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Verified skills, session history, pricing, ratings, and availability calendar.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20040" y="3200400"/>
            <a:ext cx="269748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3200400"/>
            <a:ext cx="50292" cy="126187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331012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86968" y="3291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In-App Messaging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66344" y="370332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Chat with your expert before and after the session. All within the platform.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172968" y="3200400"/>
            <a:ext cx="269748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172968" y="3200400"/>
            <a:ext cx="50292" cy="1261872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331012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39896" y="3291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Skill Badges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319272" y="370332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Post-session assessments unlock shareable LinkedIn-ready skill badges.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25896" y="3200400"/>
            <a:ext cx="269748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25896" y="3200400"/>
            <a:ext cx="50292" cy="126187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310128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592824" y="3291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Dual Role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172200" y="370332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Every user can be both a learner and an expert. Seamless role switching.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1148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4DC7"/>
                </a:solidFill>
              </a:rPr>
              <a:t>Working prototype built on Base44 — ready for internal testing today.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SkillShare — Investor Briefing 2025  |  Confidential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0" y="4892040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</a:rPr>
              <a:t>MARKET OPPORTUNITY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Multi-Billion Dollar Untapped Space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04241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</a:rPr>
              <a:t>Peer-to-peer learning + gig economy + locality = a new category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1965960" cy="141732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828800"/>
            <a:ext cx="196596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93852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$404B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29768" y="2542032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Global EdTech Market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Size (2025 est.)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828800"/>
            <a:ext cx="1965960" cy="141732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82880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578608" y="193852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18.5%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578608" y="2542032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P2P Learning Platforms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Annual Growth (CAGR)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828800"/>
            <a:ext cx="1965960" cy="141732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828800"/>
            <a:ext cx="196596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4727448" y="193852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1.1B+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727448" y="2542032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Adults actively seeking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new skills per year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828800"/>
            <a:ext cx="1965960" cy="141732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828800"/>
            <a:ext cx="1965960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9" name="Text 17"/>
          <p:cNvSpPr/>
          <p:nvPr/>
        </p:nvSpPr>
        <p:spPr>
          <a:xfrm>
            <a:off x="6876288" y="193852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876288" y="2542032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Willing to pay for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personalized mentoring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</a:rPr>
              <a:t>Target Segments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749040"/>
            <a:ext cx="2697480" cy="100584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749040"/>
            <a:ext cx="26974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" y="381304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Young Professionals (18–35)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9768" y="411480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Students, fresh grads, junior employees upskilling for career growth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72968" y="3749040"/>
            <a:ext cx="2697480" cy="100584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3749040"/>
            <a:ext cx="26974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8" name="Text 26"/>
          <p:cNvSpPr/>
          <p:nvPr/>
        </p:nvSpPr>
        <p:spPr>
          <a:xfrm>
            <a:off x="3282696" y="381304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</a:rPr>
              <a:t>Corporate L&amp;D Teams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82696" y="411480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HR departments buying bulk sessions for employee upskilling with reporting dashboards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25896" y="3749040"/>
            <a:ext cx="2697480" cy="100584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25896" y="3749040"/>
            <a:ext cx="26974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135624" y="381304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Independent Experts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35624" y="411480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Skilled professionals monetizing their knowledge as a side income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1480" y="49194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8BDF8"/>
                </a:solidFill>
              </a:rPr>
              <a:t>Launch city: Kuala Lumpur — dense tech talent, normalized gig economy, English-friendly.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SkillShare — Investor Briefing 2025  |  Confidential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0" y="4892040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</a:rPr>
              <a:t>COMPETITIVE POSITIONING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SkillShare Wins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04241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Locality + hands-on format + same-day booking = a category no one owns yet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1865376" cy="3657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162763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85416" y="1627632"/>
            <a:ext cx="2066544" cy="3657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8" name="Text 6"/>
          <p:cNvSpPr/>
          <p:nvPr/>
        </p:nvSpPr>
        <p:spPr>
          <a:xfrm>
            <a:off x="2258568" y="1627632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Online Courses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(Udemy, Coursera)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51960" y="1627632"/>
            <a:ext cx="2176272" cy="3657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0" name="Text 8"/>
          <p:cNvSpPr/>
          <p:nvPr/>
        </p:nvSpPr>
        <p:spPr>
          <a:xfrm>
            <a:off x="4325112" y="162763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Tutoring Platforms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(Preply, Superprof)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28232" y="1627632"/>
            <a:ext cx="2450592" cy="3657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2" name="Text 10"/>
          <p:cNvSpPr/>
          <p:nvPr/>
        </p:nvSpPr>
        <p:spPr>
          <a:xfrm>
            <a:off x="6501384" y="162763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SkillShare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011680"/>
            <a:ext cx="1865376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" y="20116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D1B3E"/>
                </a:solidFill>
              </a:rPr>
              <a:t>Learning format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85416" y="2011680"/>
            <a:ext cx="2066544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2258568" y="201168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Pre-recorded video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51960" y="2011680"/>
            <a:ext cx="2176272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4325112" y="20116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Live video call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28232" y="2011680"/>
            <a:ext cx="2450592" cy="365760"/>
          </a:xfrm>
          <a:prstGeom prst="rect">
            <a:avLst/>
          </a:prstGeom>
          <a:solidFill>
            <a:srgbClr val="EDF7F2"/>
          </a:solidFill>
          <a:ln/>
        </p:spPr>
      </p:sp>
      <p:sp>
        <p:nvSpPr>
          <p:cNvPr id="20" name="Text 18"/>
          <p:cNvSpPr/>
          <p:nvPr/>
        </p:nvSpPr>
        <p:spPr>
          <a:xfrm>
            <a:off x="6501384" y="201168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0B981"/>
                </a:solidFill>
              </a:rPr>
              <a:t>✅ In-person / hybrid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395728"/>
            <a:ext cx="1865376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" y="239572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D1B3E"/>
                </a:solidFill>
              </a:rPr>
              <a:t>Locality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85416" y="2395728"/>
            <a:ext cx="206654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258568" y="239572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❌ Global, anonymous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51960" y="2395728"/>
            <a:ext cx="217627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325112" y="239572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❌ No locality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28232" y="2395728"/>
            <a:ext cx="2450592" cy="365760"/>
          </a:xfrm>
          <a:prstGeom prst="rect">
            <a:avLst/>
          </a:prstGeom>
          <a:solidFill>
            <a:srgbClr val="EDF7F2"/>
          </a:solidFill>
          <a:ln/>
        </p:spPr>
      </p:sp>
      <p:sp>
        <p:nvSpPr>
          <p:cNvPr id="28" name="Text 26"/>
          <p:cNvSpPr/>
          <p:nvPr/>
        </p:nvSpPr>
        <p:spPr>
          <a:xfrm>
            <a:off x="6501384" y="239572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0B981"/>
                </a:solidFill>
              </a:rPr>
              <a:t>✅ Hyperlocal map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779776"/>
            <a:ext cx="1865376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393192" y="277977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D1B3E"/>
                </a:solidFill>
              </a:rPr>
              <a:t>Booking speed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85416" y="2779776"/>
            <a:ext cx="2066544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2258568" y="277977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❌ Enrol &amp; wait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51960" y="2779776"/>
            <a:ext cx="2176272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4325112" y="277977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Varies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28232" y="2779776"/>
            <a:ext cx="2450592" cy="365760"/>
          </a:xfrm>
          <a:prstGeom prst="rect">
            <a:avLst/>
          </a:prstGeom>
          <a:solidFill>
            <a:srgbClr val="EDF7F2"/>
          </a:solidFill>
          <a:ln/>
        </p:spPr>
      </p:sp>
      <p:sp>
        <p:nvSpPr>
          <p:cNvPr id="36" name="Text 34"/>
          <p:cNvSpPr/>
          <p:nvPr/>
        </p:nvSpPr>
        <p:spPr>
          <a:xfrm>
            <a:off x="6501384" y="277977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0B981"/>
                </a:solidFill>
              </a:rPr>
              <a:t>✅ Same-day, 1 tap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163824"/>
            <a:ext cx="1865376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93192" y="3163824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D1B3E"/>
                </a:solidFill>
              </a:rPr>
              <a:t>Price control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185416" y="3163824"/>
            <a:ext cx="206654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2258568" y="316382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❌ Platform sets price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51960" y="3163824"/>
            <a:ext cx="217627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4325112" y="316382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Partial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28232" y="3163824"/>
            <a:ext cx="2450592" cy="365760"/>
          </a:xfrm>
          <a:prstGeom prst="rect">
            <a:avLst/>
          </a:prstGeom>
          <a:solidFill>
            <a:srgbClr val="EDF7F2"/>
          </a:solidFill>
          <a:ln/>
        </p:spPr>
      </p:sp>
      <p:sp>
        <p:nvSpPr>
          <p:cNvPr id="44" name="Text 42"/>
          <p:cNvSpPr/>
          <p:nvPr/>
        </p:nvSpPr>
        <p:spPr>
          <a:xfrm>
            <a:off x="6501384" y="316382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0B981"/>
                </a:solidFill>
              </a:rPr>
              <a:t>✅ Expert sets rate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3547872"/>
            <a:ext cx="1865376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393192" y="354787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D1B3E"/>
                </a:solidFill>
              </a:rPr>
              <a:t>Hands-on learning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185416" y="3547872"/>
            <a:ext cx="2066544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Text 46"/>
          <p:cNvSpPr/>
          <p:nvPr/>
        </p:nvSpPr>
        <p:spPr>
          <a:xfrm>
            <a:off x="2258568" y="3547872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❌ Passive watching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251960" y="3547872"/>
            <a:ext cx="2176272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0" name="Text 48"/>
          <p:cNvSpPr/>
          <p:nvPr/>
        </p:nvSpPr>
        <p:spPr>
          <a:xfrm>
            <a:off x="4325112" y="354787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Partial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28232" y="3547872"/>
            <a:ext cx="2450592" cy="365760"/>
          </a:xfrm>
          <a:prstGeom prst="rect">
            <a:avLst/>
          </a:prstGeom>
          <a:solidFill>
            <a:srgbClr val="EDF7F2"/>
          </a:solidFill>
          <a:ln/>
        </p:spPr>
      </p:sp>
      <p:sp>
        <p:nvSpPr>
          <p:cNvPr id="52" name="Text 50"/>
          <p:cNvSpPr/>
          <p:nvPr/>
        </p:nvSpPr>
        <p:spPr>
          <a:xfrm>
            <a:off x="6501384" y="354787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0B981"/>
                </a:solidFill>
              </a:rPr>
              <a:t>✅ Fully hands-on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" y="3931920"/>
            <a:ext cx="1865376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393192" y="39319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D1B3E"/>
                </a:solidFill>
              </a:rPr>
              <a:t>Skill badges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185416" y="3931920"/>
            <a:ext cx="206654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2258568" y="393192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Certificate only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251960" y="3931920"/>
            <a:ext cx="217627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4325112" y="3931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❌ None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428232" y="3931920"/>
            <a:ext cx="2450592" cy="365760"/>
          </a:xfrm>
          <a:prstGeom prst="rect">
            <a:avLst/>
          </a:prstGeom>
          <a:solidFill>
            <a:srgbClr val="EDF7F2"/>
          </a:solidFill>
          <a:ln/>
        </p:spPr>
      </p:sp>
      <p:sp>
        <p:nvSpPr>
          <p:cNvPr id="60" name="Text 58"/>
          <p:cNvSpPr/>
          <p:nvPr/>
        </p:nvSpPr>
        <p:spPr>
          <a:xfrm>
            <a:off x="6501384" y="393192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0B981"/>
                </a:solidFill>
              </a:rPr>
              <a:t>✅ Verified + LinkedIn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0040" y="4315968"/>
            <a:ext cx="1865376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2" name="Text 60"/>
          <p:cNvSpPr/>
          <p:nvPr/>
        </p:nvSpPr>
        <p:spPr>
          <a:xfrm>
            <a:off x="393192" y="431596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D1B3E"/>
                </a:solidFill>
              </a:rPr>
              <a:t>Corporate tier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185416" y="4315968"/>
            <a:ext cx="2066544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4" name="Text 62"/>
          <p:cNvSpPr/>
          <p:nvPr/>
        </p:nvSpPr>
        <p:spPr>
          <a:xfrm>
            <a:off x="2258568" y="431596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Partial (Udemy Biz)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251960" y="4315968"/>
            <a:ext cx="2176272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6" name="Text 64"/>
          <p:cNvSpPr/>
          <p:nvPr/>
        </p:nvSpPr>
        <p:spPr>
          <a:xfrm>
            <a:off x="4325112" y="431596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❌ None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428232" y="4315968"/>
            <a:ext cx="2450592" cy="365760"/>
          </a:xfrm>
          <a:prstGeom prst="rect">
            <a:avLst/>
          </a:prstGeom>
          <a:solidFill>
            <a:srgbClr val="EDF7F2"/>
          </a:solidFill>
          <a:ln/>
        </p:spPr>
      </p:sp>
      <p:sp>
        <p:nvSpPr>
          <p:cNvPr id="68" name="Text 66"/>
          <p:cNvSpPr/>
          <p:nvPr/>
        </p:nvSpPr>
        <p:spPr>
          <a:xfrm>
            <a:off x="6501384" y="431596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0B981"/>
                </a:solidFill>
              </a:rPr>
              <a:t>✅ Full B2B dashboard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1148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4DC7"/>
                </a:solidFill>
              </a:rPr>
              <a:t>No platform today combines locality, real-time map discovery, same-day booking, and hands-on sessions at this price point.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SkillShare — Investor Briefing 2025  |  Confidential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0" y="4892040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</a:rPr>
              <a:t>BUSINESS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Revenue Streams, Starting Lean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04241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</a:rPr>
              <a:t>Commission-first marketplace — no inventory, no classrooms, pure 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4206240" cy="137160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91640"/>
            <a:ext cx="54864" cy="1371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80136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01  Platform Commission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2093976"/>
            <a:ext cx="39502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10–20% fee on every completed session. Expert sets rate, learner pays, SkillShare takes a cut. Same model as Grab or Airbnb.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03320" y="1764792"/>
            <a:ext cx="713232" cy="228600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176479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Primary Revenue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709160" y="1691640"/>
            <a:ext cx="4206240" cy="137160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691640"/>
            <a:ext cx="54864" cy="13716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4873752" y="180136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02  Premium Expert Listings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3752" y="2093976"/>
            <a:ext cx="39502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Experts pay for boosted map pins and top search placement. Optional, purely promotional.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92440" y="1764792"/>
            <a:ext cx="713232" cy="228600"/>
          </a:xfrm>
          <a:prstGeom prst="rect">
            <a:avLst/>
          </a:prstGeom>
          <a:solidFill>
            <a:srgbClr val="FBBF24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176479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</a:rPr>
              <a:t>Recurring Revenue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0040" y="3264408"/>
            <a:ext cx="4206240" cy="137160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64408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" y="3374136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03  Corporate Packages (B2B)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" y="3666744"/>
            <a:ext cx="39502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Companies purchase bulk session credits for teams. HR dashboard with skill tracking and reporting. Highest margin tier.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03320" y="3337560"/>
            <a:ext cx="713232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703320" y="333756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Highest Value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709160" y="3264408"/>
            <a:ext cx="4206240" cy="137160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264408"/>
            <a:ext cx="54864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4873752" y="3374136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04  Certification Badges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3666744"/>
            <a:ext cx="39502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Post-session assessments unlock verified skill badges — shareable on LinkedIn. Premium tier adds SkillShare Certified Mentor status.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92440" y="3337560"/>
            <a:ext cx="713232" cy="228600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092440" y="333756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</a:rPr>
              <a:t>Brand Value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Illustrative Unit Economics: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286000" y="4617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Avg. session: RM 100–500  ·  Commission: 15%  ·  Revenue/session: RM 15–75  ·  Corporate package: RM 5K–15K/mo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SkillShare — Investor Briefing 2025  |  Confidential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0" y="4892040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</a:rPr>
              <a:t>TECHNOLOGY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to Scale from Day 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04241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Working prototype now — production stack ready to build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40233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00200"/>
            <a:ext cx="4023360" cy="411480"/>
          </a:xfrm>
          <a:prstGeom prst="rect">
            <a:avLst/>
          </a:prstGeom>
          <a:solidFill>
            <a:srgbClr val="1A4DC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6002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CURRENT — Working Prototype (Base44)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✅  Skill registration flow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054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✅  Skill search and discovery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✅  Map view with expert pins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310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✅  Session booking flow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124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✅  Expert and learner profiles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✅  Ready for internal beta testing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600200"/>
            <a:ext cx="42519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600200"/>
            <a:ext cx="425196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6002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PLANNED — Production Stack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81728" y="21031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Mobile App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210312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React Native (iOS + Android)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81728" y="24963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Backend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80760" y="249631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FastAPI (Python)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81728" y="28895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Database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80760" y="2889504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81728" y="32826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Maps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328269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Google Maps / Mapbox API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81728" y="36758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Payments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367588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Stripe / GrabPay / Touch 'n Go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81728" y="40690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Auth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406908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Firebase / Auth0 (OAuth2)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81728" y="44622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Analytics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80760" y="44622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Mixpanel + Power BI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495604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PDPA compliant  ·  AES-256 encryption  ·  PCI-DSS payment processing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SkillShare — Investor Briefing 2025  |  Confidential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0" y="4892040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</a:rPr>
              <a:t>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Phases to Scale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04241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</a:rPr>
              <a:t>From beta today to Series A in 18 months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64208"/>
            <a:ext cx="2011680" cy="310896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64208"/>
            <a:ext cx="2011680" cy="502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737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8BDF8"/>
                </a:solidFill>
              </a:rPr>
              <a:t>PHASE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Beta Launch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Now — Month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578608"/>
            <a:ext cx="1828800" cy="256032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578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100 sessions · 50 users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· Prototype testing with 20–30 experts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· First 100 real sessions in KL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· UX feedback and iteration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96312" y="1664208"/>
            <a:ext cx="2011680" cy="310896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96312" y="1664208"/>
            <a:ext cx="2011680" cy="50292"/>
          </a:xfrm>
          <a:prstGeom prst="rect">
            <a:avLst/>
          </a:prstGeom>
          <a:solidFill>
            <a:srgbClr val="1A4DC7"/>
          </a:solidFill>
          <a:ln/>
        </p:spPr>
      </p:sp>
      <p:sp>
        <p:nvSpPr>
          <p:cNvPr id="17" name="Text 15"/>
          <p:cNvSpPr/>
          <p:nvPr/>
        </p:nvSpPr>
        <p:spPr>
          <a:xfrm>
            <a:off x="2587752" y="1737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4DC7"/>
                </a:solidFill>
              </a:rPr>
              <a:t>PHASE 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87752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 Build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87752" y="2304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Month 2–4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87752" y="2578608"/>
            <a:ext cx="1828800" cy="256032"/>
          </a:xfrm>
          <a:prstGeom prst="rect">
            <a:avLst/>
          </a:prstGeom>
          <a:solidFill>
            <a:srgbClr val="1A4DC7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587752" y="2578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4DC7"/>
                </a:solidFill>
              </a:rPr>
              <a:t>500 users · 200 sessions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87752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· React Native production app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87752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· Stripe payments integrated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87752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· SkillShare Certified badges launch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72584" y="1664208"/>
            <a:ext cx="2011680" cy="310896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72584" y="1664208"/>
            <a:ext cx="2011680" cy="502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764024" y="1737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</a:rPr>
              <a:t>PHASE 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64024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64024" y="2304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Month 5–9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64024" y="2578608"/>
            <a:ext cx="1828800" cy="256032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764024" y="2578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5,000 users · 2,000 sessions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64024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· B2B corporate packages with HR dashboard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64024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· Expand: Penang, JB, Singapore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64024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· Premium listings launched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48856" y="1664208"/>
            <a:ext cx="2011680" cy="310896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48856" y="1664208"/>
            <a:ext cx="2011680" cy="502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7" name="Text 35"/>
          <p:cNvSpPr/>
          <p:nvPr/>
        </p:nvSpPr>
        <p:spPr>
          <a:xfrm>
            <a:off x="6940296" y="1737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BBF24"/>
                </a:solidFill>
              </a:rPr>
              <a:t>PHASE 04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940296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40296" y="2304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Month 10–18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40296" y="2578608"/>
            <a:ext cx="1828800" cy="256032"/>
          </a:xfrm>
          <a:prstGeom prst="rect">
            <a:avLst/>
          </a:prstGeom>
          <a:solidFill>
            <a:srgbClr val="FBBF24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940296" y="2578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50,000 users · Series 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40296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· Regional: Jakarta, Bangkok, Manila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940296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· AI-powered skill matching engine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940296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· Enterprise contracts + Series A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SkillShare — Investor Briefing 2025  |  Confidential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0" y="4892040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</a:rPr>
              <a:t>TRACTION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Isn't Just an Idea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04241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A working prototype exists. Real sessions have happened. The concept is proven.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91640"/>
            <a:ext cx="50292" cy="13258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78308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76479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Working Prototype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6344" y="2203704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Full app built on Base44 with skill registration, map discovery, and booking — ready to demo today.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72968" y="169164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72968" y="1691640"/>
            <a:ext cx="50292" cy="132588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7830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67328" y="176479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Real Workshop Proof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19272" y="2203704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Power BI session: 2 learners, 1 hour, results that would have taken weeks of self-study. This is the model.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25896" y="169164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25896" y="1691640"/>
            <a:ext cx="50292" cy="1325880"/>
          </a:xfrm>
          <a:prstGeom prst="rect">
            <a:avLst/>
          </a:prstGeom>
          <a:solidFill>
            <a:srgbClr val="1A4DC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8308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0256" y="176479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Corporate Context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72200" y="2203704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Founder operates across Data Engineering, Analytics, AI, and Project Management at Commerzbank Group KL.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20040" y="320040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3200400"/>
            <a:ext cx="50292" cy="1325880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329184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" y="327355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Market Timing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66344" y="3712464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Post-COVID skills anxiety, AI disruption urgency, and gig economy normalization all converge now.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172968" y="320040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172968" y="3200400"/>
            <a:ext cx="50292" cy="13258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329184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67328" y="327355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Launch City Ready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319272" y="3712464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Kuala Lumpur: dense tech talent, English-friendly, Grab-normalized booking culture, regional expansion base.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025896" y="320040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25896" y="3200400"/>
            <a:ext cx="50292" cy="1325880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291840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20256" y="327355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Beta Starts Now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172200" y="3712464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Internal testing begins immediately. First 20–30 experts being onboarded from the founder's professional network.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SkillShare — Investor Briefing 2025  |  Confidential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0" y="4892040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</a:rPr>
              <a:t>THE ASK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We're Looking For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04241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</a:rPr>
              <a:t>We're at the right moment. We need the right partners.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4206240" cy="137160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91640"/>
            <a:ext cx="54864" cy="1371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80136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Corporate Beta Partners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2093976"/>
            <a:ext cx="39502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Companies willing to test SkillShare with their L&amp;D teams. Get free access, direct influence on the product, and priority enterprise pricing.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691640"/>
            <a:ext cx="4206240" cy="137160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691640"/>
            <a:ext cx="54864" cy="13716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80136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Angel Investment / Pre-Seed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73752" y="2093976"/>
            <a:ext cx="39502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Funding to build the production React Native + FastAPI app, integrate payments, and cover 6-month operations runway.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246120"/>
            <a:ext cx="4206240" cy="137160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24612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335584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Technical Co-Founder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" y="3648456"/>
            <a:ext cx="39502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React Native developer passionate about EdTech and marketplace products. Equity-based partnership.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3246120"/>
            <a:ext cx="4206240" cy="1371600"/>
          </a:xfrm>
          <a:prstGeom prst="rect">
            <a:avLst/>
          </a:prstGeom>
          <a:solidFill>
            <a:srgbClr val="1E2A4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246120"/>
            <a:ext cx="54864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873752" y="335584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EdTech / Marketplace Advisors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73752" y="3648456"/>
            <a:ext cx="39502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Founders or operators with experience scaling two-sided marketplaces, EdTech, or gig economy platforms in SE Asia.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8BDF8"/>
                </a:solidFill>
              </a:rPr>
              <a:t>Let's talk. Every expert nearby is a learner waiting to be found.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SkillShare — Investor Briefing 2025  |  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0" y="4892040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6400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8BDF8"/>
                </a:solidFill>
              </a:rPr>
              <a:t>THE VISION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Narrow the Gap.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Accelerate Humanity.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11480" y="2487168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CBD5E1"/>
                </a:solidFill>
              </a:rPr>
              <a:t>From high school to job-ready in weeks — not years.</a:t>
            </a:r>
            <a:endParaRPr lang="en-US" sz="14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CBD5E1"/>
                </a:solidFill>
              </a:rPr>
              <a:t>Every skill, a few taps away. Every expert, nearby.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3886200"/>
            <a:ext cx="9144000" cy="1257300"/>
          </a:xfrm>
          <a:prstGeom prst="rect">
            <a:avLst/>
          </a:prstGeom>
          <a:solidFill>
            <a:srgbClr val="0A0F1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06908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4672" y="40507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Beta Testing Phase — Starting Now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11480" y="44622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We are seeking early corporate partners, beta users, and investors.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4069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Michal Uhrinek  |  Kuala Lumpur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0" y="4407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skillshare.io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11480" y="491947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Confidential  ·  For Investor and Partner Use Only  ·  2025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SkillShare — Investor Presentation</dc:title>
  <dc:subject>PptxGenJS Presentation</dc:subject>
  <dc:creator>PptxGenJS</dc:creator>
  <cp:lastModifiedBy>PptxGenJS</cp:lastModifiedBy>
  <cp:revision>1</cp:revision>
  <dcterms:created xsi:type="dcterms:W3CDTF">2026-04-27T11:01:45Z</dcterms:created>
  <dcterms:modified xsi:type="dcterms:W3CDTF">2026-04-27T11:01:45Z</dcterms:modified>
</cp:coreProperties>
</file>