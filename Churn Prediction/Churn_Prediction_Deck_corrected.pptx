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rgbClr val="0E8A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A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26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D2D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8A7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263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D2D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8A7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</c:v>
                </c:pt>
                <c:pt idx="1">
                  <c:v>72</c:v>
                </c:pt>
                <c:pt idx="2">
                  <c:v>40</c:v>
                </c:pt>
                <c:pt idx="3">
                  <c:v>96</c:v>
                </c:pt>
                <c:pt idx="4">
                  <c:v>60</c:v>
                </c:pt>
                <c:pt idx="5">
                  <c:v>30</c:v>
                </c:pt>
                <c:pt idx="6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E8A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626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AUC</c:v>
                  </c:pt>
                  <c:pt idx="1">
                    <c:v>Recall</c:v>
                  </c:pt>
                  <c:pt idx="2">
                    <c:v>Precision</c:v>
                  </c:pt>
                  <c:pt idx="3">
                    <c:v>F1 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76</c:v>
                </c:pt>
                <c:pt idx="2">
                  <c:v>84</c:v>
                </c:pt>
                <c:pt idx="3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626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4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6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0E8A7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B34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A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A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8A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7C0C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F463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F463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F463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features_used</c:v>
                  </c:pt>
                  <c:pt idx="1">
                    <c:v>contract_days_left</c:v>
                  </c:pt>
                  <c:pt idx="2">
                    <c:v>usage_trend</c:v>
                  </c:pt>
                  <c:pt idx="3">
                    <c:v>monthly_revenue</c:v>
                  </c:pt>
                  <c:pt idx="4">
                    <c:v>price_increase</c:v>
                  </c:pt>
                  <c:pt idx="5">
                    <c:v>support_tickets</c:v>
                  </c:pt>
                  <c:pt idx="6">
                    <c:v>days_since_login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-1.66</c:v>
                </c:pt>
                <c:pt idx="1">
                  <c:v>-1.31</c:v>
                </c:pt>
                <c:pt idx="2">
                  <c:v>-1</c:v>
                </c:pt>
                <c:pt idx="3">
                  <c:v>0.04</c:v>
                </c:pt>
                <c:pt idx="4">
                  <c:v>0.92</c:v>
                </c:pt>
                <c:pt idx="5">
                  <c:v>1.05</c:v>
                </c:pt>
                <c:pt idx="6">
                  <c:v>2.71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000" u="none">
                  <a:solidFill>
                    <a:srgbClr val="2B34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34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-2"/>
        </c:scaling>
        <c:delete val="0"/>
        <c:axPos val="b"/>
        <c:majorGridlines>
          <c:spPr>
            <a:ln w="6350" cap="flat">
              <a:solidFill>
                <a:srgbClr val="E6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F463B"/>
              </a:solidFill>
              <a:effectLst/>
            </c:spPr>
          </c:dPt>
          <c:dPt>
            <c:idx val="1"/>
            <c:bubble3D val="0"/>
            <c:spPr>
              <a:solidFill>
                <a:srgbClr val="CFE3D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16263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16263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High-risk</c:v>
                </c:pt>
                <c:pt idx="1">
                  <c:v>Safe / monitor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19.8</c:v>
                </c:pt>
                <c:pt idx="1">
                  <c:v>80.2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344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E8A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626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AUC</c:v>
                  </c:pt>
                  <c:pt idx="1">
                    <c:v>Recall</c:v>
                  </c:pt>
                  <c:pt idx="2">
                    <c:v>Precision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93</c:v>
                </c:pt>
                <c:pt idx="2">
                  <c:v>83</c:v>
                </c:pt>
                <c:pt idx="3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626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4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6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502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DECK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766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Risk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58368" y="437083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Identify churn drivers and prevent revenue loss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5111496"/>
            <a:ext cx="50292" cy="566928"/>
          </a:xfrm>
          <a:prstGeom prst="rect">
            <a:avLst/>
          </a:prstGeom>
          <a:solidFill>
            <a:srgbClr val="0E8A7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9651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41248" y="5678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5934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31920" y="5111496"/>
            <a:ext cx="50292" cy="566928"/>
          </a:xfrm>
          <a:prstGeom prst="rect">
            <a:avLst/>
          </a:prstGeom>
          <a:solidFill>
            <a:srgbClr val="D9912B"/>
          </a:solidFill>
          <a:ln/>
        </p:spPr>
      </p:sp>
      <p:sp>
        <p:nvSpPr>
          <p:cNvPr id="10" name="Text 8"/>
          <p:cNvSpPr/>
          <p:nvPr/>
        </p:nvSpPr>
        <p:spPr>
          <a:xfrm>
            <a:off x="4096512" y="496519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114800" y="56784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5934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call today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6355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Logistic Regression for churn risk; XGBoost for next-30-day prediction</a:t>
            </a:r>
            <a:endParaRPr lang="en-US" sz="10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7955280" y="1097280"/>
          <a:ext cx="40233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46304"/>
            <a:ext cx="6702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use only / Nur für den geschäftlichen Gebrauch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is not only a model outcome — it is recurring revenue leaving the business.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29584" cy="1828800"/>
          </a:xfrm>
          <a:prstGeom prst="rect">
            <a:avLst/>
          </a:prstGeom>
          <a:solidFill>
            <a:srgbClr val="FBED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532888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F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83464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3355848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customers reduce monthly recurring revenue.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5112" y="2331720"/>
            <a:ext cx="3529584" cy="1828800"/>
          </a:xfrm>
          <a:prstGeom prst="rect">
            <a:avLst/>
          </a:prstGeom>
          <a:solidFill>
            <a:srgbClr val="E6F3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81144" y="2532888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81144" y="283464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81144" y="3355848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who is likely to churn before renewal.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1584" y="2331720"/>
            <a:ext cx="3529584" cy="1828800"/>
          </a:xfrm>
          <a:prstGeom prst="rect">
            <a:avLst/>
          </a:prstGeom>
          <a:solidFill>
            <a:srgbClr val="FBF3E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57616" y="2532888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57616" y="283464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action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57616" y="3355848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teams on the highest-value, highest-risk accounts.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1783080" y="4608576"/>
            <a:ext cx="146304" cy="146304"/>
          </a:xfrm>
          <a:prstGeom prst="ellipse">
            <a:avLst/>
          </a:prstGeom>
          <a:solidFill>
            <a:srgbClr val="0E8A78"/>
          </a:solidFill>
          <a:ln/>
        </p:spPr>
      </p:sp>
      <p:sp>
        <p:nvSpPr>
          <p:cNvPr id="21" name="Text 19"/>
          <p:cNvSpPr/>
          <p:nvPr/>
        </p:nvSpPr>
        <p:spPr>
          <a:xfrm>
            <a:off x="2020824" y="4480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churn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0" y="4608576"/>
            <a:ext cx="146304" cy="146304"/>
          </a:xfrm>
          <a:prstGeom prst="ellipse">
            <a:avLst/>
          </a:prstGeom>
          <a:solidFill>
            <a:srgbClr val="0E8A78"/>
          </a:solidFill>
          <a:ln/>
        </p:spPr>
      </p:sp>
      <p:sp>
        <p:nvSpPr>
          <p:cNvPr id="23" name="Text 21"/>
          <p:cNvSpPr/>
          <p:nvPr/>
        </p:nvSpPr>
        <p:spPr>
          <a:xfrm>
            <a:off x="5266944" y="4480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75320" y="4608576"/>
            <a:ext cx="146304" cy="146304"/>
          </a:xfrm>
          <a:prstGeom prst="ellipse">
            <a:avLst/>
          </a:prstGeom>
          <a:solidFill>
            <a:srgbClr val="0E8A78"/>
          </a:solidFill>
          <a:ln/>
        </p:spPr>
      </p:sp>
      <p:sp>
        <p:nvSpPr>
          <p:cNvPr id="25" name="Text 23"/>
          <p:cNvSpPr/>
          <p:nvPr/>
        </p:nvSpPr>
        <p:spPr>
          <a:xfrm>
            <a:off x="8513064" y="4480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actions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question:  </a:t>
            </a:r>
            <a:pPr indent="0" marL="0">
              <a:buNone/>
            </a:pPr>
            <a:r>
              <a:rPr lang="en-US" sz="1600" i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should we intervene on first to protect revenue?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analysis based on 5,000-customer churn dataset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46304"/>
            <a:ext cx="6702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use only / Nur für den geschäftlichen Gebrauch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Performance: Logistic Regression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churn model is strong enough to support operational prioritization.</a:t>
            </a:r>
            <a:endParaRPr lang="en-US" sz="1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214884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903720" y="2276856"/>
            <a:ext cx="50292" cy="566928"/>
          </a:xfrm>
          <a:prstGeom prst="rect">
            <a:avLst/>
          </a:prstGeom>
          <a:solidFill>
            <a:srgbClr val="0E8A78"/>
          </a:solidFill>
          <a:ln/>
        </p:spPr>
      </p:sp>
      <p:sp>
        <p:nvSpPr>
          <p:cNvPr id="9" name="Text 6"/>
          <p:cNvSpPr/>
          <p:nvPr/>
        </p:nvSpPr>
        <p:spPr>
          <a:xfrm>
            <a:off x="7068312" y="213055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086600" y="2843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86600" y="30998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discrimination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464040" y="2276856"/>
            <a:ext cx="50292" cy="566928"/>
          </a:xfrm>
          <a:prstGeom prst="rect">
            <a:avLst/>
          </a:prstGeom>
          <a:solidFill>
            <a:srgbClr val="16263F"/>
          </a:solidFill>
          <a:ln/>
        </p:spPr>
      </p:sp>
      <p:sp>
        <p:nvSpPr>
          <p:cNvPr id="13" name="Text 10"/>
          <p:cNvSpPr/>
          <p:nvPr/>
        </p:nvSpPr>
        <p:spPr>
          <a:xfrm>
            <a:off x="9628632" y="213055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9646920" y="2843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46920" y="30998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reliable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903720" y="4105656"/>
            <a:ext cx="50292" cy="566928"/>
          </a:xfrm>
          <a:prstGeom prst="rect">
            <a:avLst/>
          </a:prstGeom>
          <a:solidFill>
            <a:srgbClr val="D9912B"/>
          </a:solidFill>
          <a:ln/>
        </p:spPr>
      </p:sp>
      <p:sp>
        <p:nvSpPr>
          <p:cNvPr id="17" name="Text 14"/>
          <p:cNvSpPr/>
          <p:nvPr/>
        </p:nvSpPr>
        <p:spPr>
          <a:xfrm>
            <a:off x="7068312" y="395935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7086600" y="4672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86600" y="4928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most churners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464040" y="4105656"/>
            <a:ext cx="50292" cy="566928"/>
          </a:xfrm>
          <a:prstGeom prst="rect">
            <a:avLst/>
          </a:prstGeom>
          <a:solidFill>
            <a:srgbClr val="0E8A78"/>
          </a:solidFill>
          <a:ln/>
        </p:spPr>
      </p:sp>
      <p:sp>
        <p:nvSpPr>
          <p:cNvPr id="21" name="Text 18"/>
          <p:cNvSpPr/>
          <p:nvPr/>
        </p:nvSpPr>
        <p:spPr>
          <a:xfrm>
            <a:off x="9628632" y="395935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3800" dirty="0"/>
          </a:p>
        </p:txBody>
      </p:sp>
      <p:sp>
        <p:nvSpPr>
          <p:cNvPr id="22" name="Text 19"/>
          <p:cNvSpPr/>
          <p:nvPr/>
        </p:nvSpPr>
        <p:spPr>
          <a:xfrm>
            <a:off x="9646920" y="4672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46920" y="4928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performance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 </a:t>
            </a:r>
            <a:pPr indent="0" marL="0">
              <a:buNone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highly accurate and reliable for identifying churn risk.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measures ranking quality; recall emphasizes churners caught; precision emphasizes prediction reliability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46304"/>
            <a:ext cx="6702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use only / Nur für den geschäftlichen Gebrauch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EXPLAINABILITY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Churn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highlights behavior and experience signals that management can act on.</a:t>
            </a:r>
            <a:endParaRPr lang="en-US" sz="1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2240280"/>
          <a:ext cx="64008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178040" y="2194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 more when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223760" y="2670048"/>
            <a:ext cx="118872" cy="118872"/>
          </a:xfrm>
          <a:prstGeom prst="ellipse">
            <a:avLst/>
          </a:prstGeom>
          <a:solidFill>
            <a:srgbClr val="CF463B"/>
          </a:solidFill>
          <a:ln/>
        </p:spPr>
      </p:sp>
      <p:sp>
        <p:nvSpPr>
          <p:cNvPr id="10" name="Text 7"/>
          <p:cNvSpPr/>
          <p:nvPr/>
        </p:nvSpPr>
        <p:spPr>
          <a:xfrm>
            <a:off x="7452360" y="25511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 log in frequently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223760" y="3127248"/>
            <a:ext cx="118872" cy="118872"/>
          </a:xfrm>
          <a:prstGeom prst="ellipse">
            <a:avLst/>
          </a:prstGeom>
          <a:solidFill>
            <a:srgbClr val="CF463B"/>
          </a:solidFill>
          <a:ln/>
        </p:spPr>
      </p:sp>
      <p:sp>
        <p:nvSpPr>
          <p:cNvPr id="12" name="Text 9"/>
          <p:cNvSpPr/>
          <p:nvPr/>
        </p:nvSpPr>
        <p:spPr>
          <a:xfrm>
            <a:off x="7452360" y="30083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submit many support tickets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223760" y="3584448"/>
            <a:ext cx="118872" cy="118872"/>
          </a:xfrm>
          <a:prstGeom prst="ellipse">
            <a:avLst/>
          </a:prstGeom>
          <a:solidFill>
            <a:srgbClr val="CF463B"/>
          </a:solidFill>
          <a:ln/>
        </p:spPr>
      </p:sp>
      <p:sp>
        <p:nvSpPr>
          <p:cNvPr id="14" name="Text 11"/>
          <p:cNvSpPr/>
          <p:nvPr/>
        </p:nvSpPr>
        <p:spPr>
          <a:xfrm>
            <a:off x="7452360" y="34655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experience price increases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780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stay when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223760" y="4636008"/>
            <a:ext cx="118872" cy="118872"/>
          </a:xfrm>
          <a:prstGeom prst="ellipse">
            <a:avLst/>
          </a:prstGeom>
          <a:solidFill>
            <a:srgbClr val="0E8A78"/>
          </a:solidFill>
          <a:ln/>
        </p:spPr>
      </p:sp>
      <p:sp>
        <p:nvSpPr>
          <p:cNvPr id="17" name="Text 14"/>
          <p:cNvSpPr/>
          <p:nvPr/>
        </p:nvSpPr>
        <p:spPr>
          <a:xfrm>
            <a:off x="7452360" y="45171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actively use features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223760" y="5093208"/>
            <a:ext cx="118872" cy="118872"/>
          </a:xfrm>
          <a:prstGeom prst="ellipse">
            <a:avLst/>
          </a:prstGeom>
          <a:solidFill>
            <a:srgbClr val="0E8A78"/>
          </a:solidFill>
          <a:ln/>
        </p:spPr>
      </p:sp>
      <p:sp>
        <p:nvSpPr>
          <p:cNvPr id="19" name="Text 16"/>
          <p:cNvSpPr/>
          <p:nvPr/>
        </p:nvSpPr>
        <p:spPr>
          <a:xfrm>
            <a:off x="7452360" y="49743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still have contract time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223760" y="5550408"/>
            <a:ext cx="118872" cy="118872"/>
          </a:xfrm>
          <a:prstGeom prst="ellipse">
            <a:avLst/>
          </a:prstGeom>
          <a:solidFill>
            <a:srgbClr val="0E8A78"/>
          </a:solidFill>
          <a:ln/>
        </p:spPr>
      </p:sp>
      <p:sp>
        <p:nvSpPr>
          <p:cNvPr id="21" name="Text 18"/>
          <p:cNvSpPr/>
          <p:nvPr/>
        </p:nvSpPr>
        <p:spPr>
          <a:xfrm>
            <a:off x="7452360" y="54315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usage is increasing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turns the model into business insight: </a:t>
            </a:r>
            <a:pPr indent="0" marL="0">
              <a:buNone/>
            </a:pPr>
            <a:r>
              <a:rPr lang="en-US" sz="13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support experience, and pricing are the levers.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impact = logistic-regression coefficient (log-odds); positive increases churn risk, negative protects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46304"/>
            <a:ext cx="6702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use only / Nur für den geschäftlichen Gebrauch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EXPOSURE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75% churn-probability threshold, the model isolates the highest-confidence revenue risk.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551176"/>
            <a:ext cx="50292" cy="566928"/>
          </a:xfrm>
          <a:prstGeom prst="rect">
            <a:avLst/>
          </a:prstGeom>
          <a:solidFill>
            <a:srgbClr val="CF463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40487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22960" y="3118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F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CUSTOMERS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74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&gt;75% churn probability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05656"/>
            <a:ext cx="50292" cy="566928"/>
          </a:xfrm>
          <a:prstGeom prst="rect">
            <a:avLst/>
          </a:prstGeom>
          <a:solidFill>
            <a:srgbClr val="D9912B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95935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$422,296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22960" y="46725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AT RISK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9286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retention pool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440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threshold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teams on the highest-confidence churners — fewer false alarms, faster action, clearer ownership.</a:t>
            </a:r>
            <a:endParaRPr lang="en-US" sz="13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040880" y="1874520"/>
          <a:ext cx="4023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949440" y="55321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 of customers are high risk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segment = churn probability greater than 75%; safe / monitor = remaining customer base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46304"/>
            <a:ext cx="6702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use only / Nur für den geschäftlichen Gebrauch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ACTION LIST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Call TODAY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should immediately contact high-value customers with the highest churn risk.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772668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011680"/>
                <a:gridCol w="1828800"/>
                <a:gridCol w="164592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Probability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CUST_3924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B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CUST_0551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B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CUST_2922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B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CUST_1844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B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CUST_2701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B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CUST_2109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B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CUST_3428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B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CUST_1103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B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CUST_0843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B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CUST_2503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B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59536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0" y="265176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churn probability and monthly revenue (probability x revenue) to focus CS on the largest protection opportunities.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536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rule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44805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today if churn probability exceeds 75% and revenue is top-tier.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by priority score from the live model run; priority score = churn probability x monthly revenue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46304"/>
            <a:ext cx="6702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use only / Nur für den geschäftlichen Gebrauch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DAYS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Risk Customers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customers are highly likely to churn in the next 30 days — proactive retention required.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39776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1005840"/>
              </a:tblGrid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C-02174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C-05513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C-03210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C-04692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C-01845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C-06031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C-00782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C-04451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C-02964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C-01508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286000"/>
          <a:ext cx="39776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1005840"/>
              </a:tblGrid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C-05177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C-02459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C-03628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C-00994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C-05820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C-01346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C-03185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C-04706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C-02671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9006840" y="2286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posture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006840" y="29718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immediate outreach for the highest-probability customers and track daily response signals.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006840" y="4160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shown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006840" y="443484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predicted churn probability for the coming 30 days.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5806440"/>
            <a:ext cx="8138160" cy="457200"/>
          </a:xfrm>
          <a:prstGeom prst="rect">
            <a:avLst/>
          </a:prstGeom>
          <a:solidFill>
            <a:srgbClr val="FBF3E1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" y="5806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rows at production scale — replace IDs and values with the live 30-day XGBoost export before outreach.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Future-risk list generated from 30-day XGBoost probability scores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46304"/>
            <a:ext cx="6702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use only / Nur für den geschäftlichen Gebrauch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RISK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Churn Prediction: XGBoost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next 30 days, the priority is catching almost all future churners — high recall by design.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276856"/>
            <a:ext cx="50292" cy="566928"/>
          </a:xfrm>
          <a:prstGeom prst="rect">
            <a:avLst/>
          </a:prstGeom>
          <a:solidFill>
            <a:srgbClr val="0E8A7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305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22960" y="2843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099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churners caught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2276856"/>
            <a:ext cx="50292" cy="566928"/>
          </a:xfrm>
          <a:prstGeom prst="rect">
            <a:avLst/>
          </a:prstGeom>
          <a:solidFill>
            <a:srgbClr val="16263F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21305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429000" y="2843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3099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alerts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2276856"/>
            <a:ext cx="50292" cy="566928"/>
          </a:xfrm>
          <a:prstGeom prst="rect">
            <a:avLst/>
          </a:prstGeom>
          <a:solidFill>
            <a:srgbClr val="0E8A78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752" y="21305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035040" y="2843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3099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balance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458200" y="2276856"/>
            <a:ext cx="50292" cy="566928"/>
          </a:xfrm>
          <a:prstGeom prst="rect">
            <a:avLst/>
          </a:prstGeom>
          <a:solidFill>
            <a:srgbClr val="D9912B"/>
          </a:solidFill>
          <a:ln/>
        </p:spPr>
      </p:sp>
      <p:sp>
        <p:nvSpPr>
          <p:cNvPr id="20" name="Text 18"/>
          <p:cNvSpPr/>
          <p:nvPr/>
        </p:nvSpPr>
        <p:spPr>
          <a:xfrm>
            <a:off x="8622792" y="21305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641080" y="2843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41080" y="3099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ranking</a:t>
            </a:r>
            <a:endParaRPr lang="en-US" sz="12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3657600"/>
          <a:ext cx="63093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717804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178040" y="4069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b="1" i="1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prioritize catching almost all future churners.”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178040" y="48920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Operationally, the model is tuned for proactive retention, even if some lower-risk customers are included in outreach.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next-30-day model: higher recall supports proactive retention planning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46304"/>
            <a:ext cx="6702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use only / Nur für den geschäftlichen Gebrauch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DATA TO 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Strategy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churn probability and revenue value to route customers into the right retention motion.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segment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owner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churn + high 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F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manager within 24 hours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churn + low 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9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automation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campaign this week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churn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8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engagement and renewals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766560" y="4892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F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CHURN RISK = high risk + high revenue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546811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support-ticket volume could significantly reduce churn risk, especially among high-value customers already showing low engagement.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converts model output into a repeatable retention operating model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46304"/>
            <a:ext cx="6702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use only / Nur für den geschäftlichen Gebrauch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predictable, explainable, and financially material — the next step is targeted retention action.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529584" cy="2697480"/>
          </a:xfrm>
          <a:prstGeom prst="rect">
            <a:avLst/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715768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118872" cy="118872"/>
          </a:xfrm>
          <a:prstGeom prst="ellipse">
            <a:avLst/>
          </a:prstGeom>
          <a:solidFill>
            <a:srgbClr val="CF463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72968"/>
            <a:ext cx="2798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</a:t>
            </a:r>
            <a:pPr indent="0" marL="0">
              <a:buNone/>
            </a:pPr>
            <a:r>
              <a:rPr lang="en-US" sz="13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(days_since_login)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858768"/>
            <a:ext cx="118872" cy="118872"/>
          </a:xfrm>
          <a:prstGeom prst="ellipse">
            <a:avLst/>
          </a:prstGeom>
          <a:solidFill>
            <a:srgbClr val="CF46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739896"/>
            <a:ext cx="2798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experience</a:t>
            </a:r>
            <a:pPr indent="0" marL="0">
              <a:buNone/>
            </a:pPr>
            <a:r>
              <a:rPr lang="en-US" sz="13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(support tickets)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425696"/>
            <a:ext cx="118872" cy="118872"/>
          </a:xfrm>
          <a:prstGeom prst="ellipse">
            <a:avLst/>
          </a:prstGeom>
          <a:solidFill>
            <a:srgbClr val="CF463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306824"/>
            <a:ext cx="2798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changes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25112" y="2514600"/>
            <a:ext cx="3529584" cy="2697480"/>
          </a:xfrm>
          <a:prstGeom prst="rect">
            <a:avLst/>
          </a:prstGeom>
          <a:solidFill>
            <a:srgbClr val="FBF3E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81144" y="2715768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62856" y="3118104"/>
            <a:ext cx="3072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$422K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581144" y="388620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at risk in the high-confidence segment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81144" y="4572000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 high-risk customers above the 75% threshold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01584" y="2514600"/>
            <a:ext cx="3529584" cy="2697480"/>
          </a:xfrm>
          <a:prstGeom prst="rect">
            <a:avLst/>
          </a:prstGeom>
          <a:solidFill>
            <a:srgbClr val="E6F3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57616" y="2715768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now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75904" y="3337560"/>
            <a:ext cx="118872" cy="118872"/>
          </a:xfrm>
          <a:prstGeom prst="ellipse">
            <a:avLst/>
          </a:prstGeom>
          <a:solidFill>
            <a:srgbClr val="0E8A78"/>
          </a:solidFill>
          <a:ln/>
        </p:spPr>
      </p:sp>
      <p:sp>
        <p:nvSpPr>
          <p:cNvPr id="23" name="Text 21"/>
          <p:cNvSpPr/>
          <p:nvPr/>
        </p:nvSpPr>
        <p:spPr>
          <a:xfrm>
            <a:off x="8604504" y="3218688"/>
            <a:ext cx="2798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high-value churners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375904" y="3904488"/>
            <a:ext cx="118872" cy="118872"/>
          </a:xfrm>
          <a:prstGeom prst="ellipse">
            <a:avLst/>
          </a:prstGeom>
          <a:solidFill>
            <a:srgbClr val="0E8A78"/>
          </a:solidFill>
          <a:ln/>
        </p:spPr>
      </p:sp>
      <p:sp>
        <p:nvSpPr>
          <p:cNvPr id="25" name="Text 23"/>
          <p:cNvSpPr/>
          <p:nvPr/>
        </p:nvSpPr>
        <p:spPr>
          <a:xfrm>
            <a:off x="8604504" y="3785616"/>
            <a:ext cx="2798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product engagement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375904" y="4471416"/>
            <a:ext cx="118872" cy="118872"/>
          </a:xfrm>
          <a:prstGeom prst="ellipse">
            <a:avLst/>
          </a:prstGeom>
          <a:solidFill>
            <a:srgbClr val="0E8A78"/>
          </a:solidFill>
          <a:ln/>
        </p:spPr>
      </p:sp>
      <p:sp>
        <p:nvSpPr>
          <p:cNvPr id="27" name="Text 25"/>
          <p:cNvSpPr/>
          <p:nvPr/>
        </p:nvSpPr>
        <p:spPr>
          <a:xfrm>
            <a:off x="8604504" y="4352544"/>
            <a:ext cx="2798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support issues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request: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high-risk retention sprint this week, using the top-customer list as the daily call queue.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summary: churn risk model, revenue exposure, and prioritized actions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46304"/>
            <a:ext cx="6702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use only / Nur für den geschäftlichen Gebrauch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FLOW / PROCESS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Churn Modeling Process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 workflow to customer retention action — each code block creates a business artifact.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792224" cy="2331720"/>
          </a:xfrm>
          <a:prstGeom prst="rect">
            <a:avLst/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2514600"/>
            <a:ext cx="457200" cy="457200"/>
          </a:xfrm>
          <a:prstGeom prst="ellipse">
            <a:avLst/>
          </a:prstGeom>
          <a:solidFill>
            <a:srgbClr val="0E8A78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" y="306324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" y="3538728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customer, usage, support, pricing and revenue fields.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" y="432511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22576" y="3108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41448" y="2331720"/>
            <a:ext cx="1792224" cy="2331720"/>
          </a:xfrm>
          <a:prstGeom prst="rect">
            <a:avLst/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2514600"/>
            <a:ext cx="457200" cy="457200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87752" y="306324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features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87752" y="3538728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engagement, support, contract and usage signals.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87752" y="432511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table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15384" y="3108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334256" y="2331720"/>
            <a:ext cx="1792224" cy="2331720"/>
          </a:xfrm>
          <a:prstGeom prst="rect">
            <a:avLst/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98848" y="2514600"/>
            <a:ext cx="457200" cy="457200"/>
          </a:xfrm>
          <a:prstGeom prst="ellipse">
            <a:avLst/>
          </a:prstGeom>
          <a:solidFill>
            <a:srgbClr val="0E8A78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80560" y="306324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80560" y="3538728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Logistic Regression and XGBoost churn models.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80560" y="432511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08192" y="3108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227064" y="2331720"/>
            <a:ext cx="1792224" cy="2331720"/>
          </a:xfrm>
          <a:prstGeom prst="rect">
            <a:avLst/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91656" y="2514600"/>
            <a:ext cx="457200" cy="457200"/>
          </a:xfrm>
          <a:prstGeom prst="ellipse">
            <a:avLst/>
          </a:prstGeom>
          <a:solidFill>
            <a:srgbClr val="D9912B"/>
          </a:solidFill>
          <a:ln/>
        </p:spPr>
      </p:sp>
      <p:sp>
        <p:nvSpPr>
          <p:cNvPr id="30" name="Text 28"/>
          <p:cNvSpPr/>
          <p:nvPr/>
        </p:nvSpPr>
        <p:spPr>
          <a:xfrm>
            <a:off x="6391656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73368" y="306324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73368" y="3538728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AUC, recall, precision and F1 against business goals.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73368" y="432511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metrics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01000" y="3108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8119872" y="2331720"/>
            <a:ext cx="1792224" cy="2331720"/>
          </a:xfrm>
          <a:prstGeom prst="rect">
            <a:avLst/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84464" y="2514600"/>
            <a:ext cx="457200" cy="457200"/>
          </a:xfrm>
          <a:prstGeom prst="ellipse">
            <a:avLst/>
          </a:prstGeom>
          <a:solidFill>
            <a:srgbClr val="CF463B"/>
          </a:solidFill>
          <a:ln/>
        </p:spPr>
      </p:sp>
      <p:sp>
        <p:nvSpPr>
          <p:cNvPr id="37" name="Text 35"/>
          <p:cNvSpPr/>
          <p:nvPr/>
        </p:nvSpPr>
        <p:spPr>
          <a:xfrm>
            <a:off x="8284464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66176" y="306324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segment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66176" y="3538728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churn probability, revenue risk and priority score.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66176" y="432511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ranked list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893808" y="3108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10012680" y="2331720"/>
            <a:ext cx="1792224" cy="2331720"/>
          </a:xfrm>
          <a:prstGeom prst="rect">
            <a:avLst/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0177272" y="2514600"/>
            <a:ext cx="457200" cy="457200"/>
          </a:xfrm>
          <a:prstGeom prst="ellipse">
            <a:avLst/>
          </a:prstGeom>
          <a:solidFill>
            <a:srgbClr val="0B6B5D"/>
          </a:solidFill>
          <a:ln/>
        </p:spPr>
      </p:sp>
      <p:sp>
        <p:nvSpPr>
          <p:cNvPr id="44" name="Text 42"/>
          <p:cNvSpPr/>
          <p:nvPr/>
        </p:nvSpPr>
        <p:spPr>
          <a:xfrm>
            <a:off x="10177272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158984" y="306324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&amp; monitor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158984" y="3538728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VIP churn risk to calls, automation or monitoring.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158984" y="432511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queue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" y="4983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 flipH="1">
            <a:off x="566928" y="5440680"/>
            <a:ext cx="1920240" cy="0"/>
          </a:xfrm>
          <a:prstGeom prst="line">
            <a:avLst/>
          </a:prstGeom>
          <a:noFill/>
          <a:ln w="28575">
            <a:solidFill>
              <a:srgbClr val="0E8A78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2743200" y="493776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outcomes and new behavior are logged back into the dataset so thresholds, features and models improve over time.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visualization: data preparation → model training → scoring → retention operations → monitoring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&amp; Revenue Risk Analysis</dc:title>
  <dc:subject>PptxGenJS Presentation</dc:subject>
  <dc:creator>Mike</dc:creator>
  <cp:lastModifiedBy>Mike</cp:lastModifiedBy>
  <cp:revision>1</cp:revision>
  <dcterms:created xsi:type="dcterms:W3CDTF">2026-06-18T13:35:52Z</dcterms:created>
  <dcterms:modified xsi:type="dcterms:W3CDTF">2026-06-18T13:35:52Z</dcterms:modified>
</cp:coreProperties>
</file>