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spPr>
            <a:solidFill>
              <a:srgbClr val="0E8A7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45A-415F-B791-DC2F758D14F8}"/>
              </c:ext>
            </c:extLst>
          </c:dPt>
          <c:dPt>
            <c:idx val="1"/>
            <c:invertIfNegative val="0"/>
            <c:bubble3D val="0"/>
            <c:spPr>
              <a:solidFill>
                <a:srgbClr val="16263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45A-415F-B791-DC2F758D14F8}"/>
              </c:ext>
            </c:extLst>
          </c:dPt>
          <c:dPt>
            <c:idx val="2"/>
            <c:invertIfNegative val="0"/>
            <c:bubble3D val="0"/>
            <c:spPr>
              <a:solidFill>
                <a:srgbClr val="C9D2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45A-415F-B791-DC2F758D14F8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345A-415F-B791-DC2F758D14F8}"/>
              </c:ext>
            </c:extLst>
          </c:dPt>
          <c:dPt>
            <c:idx val="4"/>
            <c:invertIfNegative val="0"/>
            <c:bubble3D val="0"/>
            <c:spPr>
              <a:solidFill>
                <a:srgbClr val="16263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345A-415F-B791-DC2F758D14F8}"/>
              </c:ext>
            </c:extLst>
          </c:dPt>
          <c:dPt>
            <c:idx val="5"/>
            <c:invertIfNegative val="0"/>
            <c:bubble3D val="0"/>
            <c:spPr>
              <a:solidFill>
                <a:srgbClr val="C9D2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345A-415F-B791-DC2F758D14F8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345A-415F-B791-DC2F758D14F8}"/>
              </c:ext>
            </c:extLst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72</c:v>
                </c:pt>
                <c:pt idx="2">
                  <c:v>40</c:v>
                </c:pt>
                <c:pt idx="3">
                  <c:v>96</c:v>
                </c:pt>
                <c:pt idx="4">
                  <c:v>60</c:v>
                </c:pt>
                <c:pt idx="5">
                  <c:v>30</c:v>
                </c:pt>
                <c:pt idx="6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345A-415F-B791-DC2F758D14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0E8A7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16263F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AUC</c:v>
                </c:pt>
                <c:pt idx="1">
                  <c:v>Recall</c:v>
                </c:pt>
                <c:pt idx="2">
                  <c:v>Precision</c:v>
                </c:pt>
                <c:pt idx="3">
                  <c:v>F1 Score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94</c:v>
                </c:pt>
                <c:pt idx="1">
                  <c:v>76</c:v>
                </c:pt>
                <c:pt idx="2">
                  <c:v>84</c:v>
                </c:pt>
                <c:pt idx="3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ED-4368-A4B8-8D28F058B95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44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6EA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coefficient</c:v>
                </c:pt>
              </c:strCache>
            </c:strRef>
          </c:tx>
          <c:spPr>
            <a:solidFill>
              <a:srgbClr val="0E8A7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3B3-42E5-A202-F3353BA37D84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3B3-42E5-A202-F3353BA37D84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3B3-42E5-A202-F3353BA37D84}"/>
              </c:ext>
            </c:extLst>
          </c:dPt>
          <c:dPt>
            <c:idx val="3"/>
            <c:invertIfNegative val="0"/>
            <c:bubble3D val="0"/>
            <c:spPr>
              <a:solidFill>
                <a:srgbClr val="B7C0C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3B3-42E5-A202-F3353BA37D84}"/>
              </c:ext>
            </c:extLst>
          </c:dPt>
          <c:dPt>
            <c:idx val="4"/>
            <c:invertIfNegative val="0"/>
            <c:bubble3D val="0"/>
            <c:spPr>
              <a:solidFill>
                <a:srgbClr val="CF463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3B3-42E5-A202-F3353BA37D84}"/>
              </c:ext>
            </c:extLst>
          </c:dPt>
          <c:dPt>
            <c:idx val="5"/>
            <c:invertIfNegative val="0"/>
            <c:bubble3D val="0"/>
            <c:spPr>
              <a:solidFill>
                <a:srgbClr val="CF463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3B3-42E5-A202-F3353BA37D84}"/>
              </c:ext>
            </c:extLst>
          </c:dPt>
          <c:dPt>
            <c:idx val="6"/>
            <c:invertIfNegative val="0"/>
            <c:bubble3D val="0"/>
            <c:spPr>
              <a:solidFill>
                <a:srgbClr val="CF463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3B3-42E5-A202-F3353BA37D84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rgbClr val="2B344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features_used</c:v>
                </c:pt>
                <c:pt idx="1">
                  <c:v>contract_days_left</c:v>
                </c:pt>
                <c:pt idx="2">
                  <c:v>usage_trend</c:v>
                </c:pt>
                <c:pt idx="3">
                  <c:v>monthly_revenue</c:v>
                </c:pt>
                <c:pt idx="4">
                  <c:v>price_increase</c:v>
                </c:pt>
                <c:pt idx="5">
                  <c:v>support_tickets</c:v>
                </c:pt>
                <c:pt idx="6">
                  <c:v>days_since_login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-1.66</c:v>
                </c:pt>
                <c:pt idx="1">
                  <c:v>-1.31</c:v>
                </c:pt>
                <c:pt idx="2">
                  <c:v>-1</c:v>
                </c:pt>
                <c:pt idx="3">
                  <c:v>0.04</c:v>
                </c:pt>
                <c:pt idx="4">
                  <c:v>0.92</c:v>
                </c:pt>
                <c:pt idx="5">
                  <c:v>1.05</c:v>
                </c:pt>
                <c:pt idx="6">
                  <c:v>2.71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A3B3-42E5-A202-F3353BA37D8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B344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"/>
          <c:min val="-2"/>
        </c:scaling>
        <c:delete val="0"/>
        <c:axPos val="b"/>
        <c:majorGridlines>
          <c:spPr>
            <a:ln w="6350" cap="flat">
              <a:solidFill>
                <a:srgbClr val="E6EA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risk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F463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6427-4E3A-AD9B-6AF2872CE33A}"/>
              </c:ext>
            </c:extLst>
          </c:dPt>
          <c:dPt>
            <c:idx val="1"/>
            <c:bubble3D val="0"/>
            <c:spPr>
              <a:solidFill>
                <a:srgbClr val="CFE3D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427-4E3A-AD9B-6AF2872CE33A}"/>
              </c:ext>
            </c:extLst>
          </c:dPt>
          <c:cat>
            <c:strRef>
              <c:f>Sheet1!$A$2:$A$3</c:f>
              <c:strCache>
                <c:ptCount val="2"/>
                <c:pt idx="0">
                  <c:v>High-risk</c:v>
                </c:pt>
                <c:pt idx="1">
                  <c:v>Safe / monitor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19.8</c:v>
                </c:pt>
                <c:pt idx="1">
                  <c:v>80.2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427-4E3A-AD9B-6AF2872CE3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44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0E8A7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6263F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AUC</c:v>
                </c:pt>
                <c:pt idx="1">
                  <c:v>Recall</c:v>
                </c:pt>
                <c:pt idx="2">
                  <c:v>Precision</c:v>
                </c:pt>
                <c:pt idx="3">
                  <c:v>F1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</c:v>
                </c:pt>
                <c:pt idx="1">
                  <c:v>93</c:v>
                </c:pt>
                <c:pt idx="2">
                  <c:v>83</c:v>
                </c:pt>
                <c:pt idx="3">
                  <c:v>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946-4EE3-AA24-57D877206C0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44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6EA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34597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81D69B-8298-FFEC-9CE7-091B174894F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720400" y="63500"/>
            <a:ext cx="277971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537173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business use only / Nur für den geschäftlichen Gebrauch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0" y="5029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DECISION DECK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6766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</a:t>
            </a:r>
            <a:endParaRPr lang="en-US" sz="46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&amp;</a:t>
            </a:r>
            <a:endParaRPr lang="en-US" sz="46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Risk</a:t>
            </a:r>
            <a:endParaRPr lang="en-US" sz="46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58368" y="4370832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Identify churn drivers and prevent revenue loss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58368" y="5111496"/>
            <a:ext cx="50292" cy="566928"/>
          </a:xfrm>
          <a:prstGeom prst="rect">
            <a:avLst/>
          </a:prstGeom>
          <a:solidFill>
            <a:srgbClr val="0E8A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4965192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41248" y="56784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59344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analyzed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931920" y="5111496"/>
            <a:ext cx="50292" cy="566928"/>
          </a:xfrm>
          <a:prstGeom prst="rect">
            <a:avLst/>
          </a:prstGeom>
          <a:solidFill>
            <a:srgbClr val="D991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096512" y="496519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list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114800" y="56784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9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0" y="593445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to call today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8368" y="6355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Models: Logistic Regression for churn risk; XGBoost for next-30-day prediction</a:t>
            </a:r>
            <a:endParaRPr lang="en-US" sz="1050" dirty="0"/>
          </a:p>
        </p:txBody>
      </p:sp>
      <p:graphicFrame>
        <p:nvGraphicFramePr>
          <p:cNvPr id="14" name="Chart 0"/>
          <p:cNvGraphicFramePr/>
          <p:nvPr/>
        </p:nvGraphicFramePr>
        <p:xfrm>
          <a:off x="7955280" y="1097280"/>
          <a:ext cx="4023360" cy="4937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146304"/>
            <a:ext cx="67025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business use only / Nur für den geschäftlichen Gebrauch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 is not only a model outcome — it is recurring revenue leaving the business.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3529584" cy="1828800"/>
          </a:xfrm>
          <a:prstGeom prst="rect">
            <a:avLst/>
          </a:prstGeom>
          <a:solidFill>
            <a:srgbClr val="FBEDE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" y="2532888"/>
            <a:ext cx="3072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F4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2834640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loss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3355848"/>
            <a:ext cx="30266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At-risk customers reduce monthly recurring revenue.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25112" y="2331720"/>
            <a:ext cx="3529584" cy="1828800"/>
          </a:xfrm>
          <a:prstGeom prst="rect">
            <a:avLst/>
          </a:prstGeom>
          <a:solidFill>
            <a:srgbClr val="E6F3F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81144" y="2532888"/>
            <a:ext cx="3072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81144" y="2834640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detection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81144" y="3355848"/>
            <a:ext cx="30266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who is likely to churn before renewal.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2331720"/>
            <a:ext cx="3529584" cy="1828800"/>
          </a:xfrm>
          <a:prstGeom prst="rect">
            <a:avLst/>
          </a:prstGeom>
          <a:solidFill>
            <a:srgbClr val="FBF3E1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57616" y="2532888"/>
            <a:ext cx="3072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9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57616" y="2834640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action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57616" y="3355848"/>
            <a:ext cx="30266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teams on the highest-value, highest-risk accounts.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45262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1783080" y="4608576"/>
            <a:ext cx="146304" cy="146304"/>
          </a:xfrm>
          <a:prstGeom prst="ellipse">
            <a:avLst/>
          </a:prstGeom>
          <a:solidFill>
            <a:srgbClr val="0E8A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020824" y="4480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churn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29200" y="4608576"/>
            <a:ext cx="146304" cy="146304"/>
          </a:xfrm>
          <a:prstGeom prst="ellipse">
            <a:avLst/>
          </a:prstGeom>
          <a:solidFill>
            <a:srgbClr val="0E8A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266944" y="4480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why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275320" y="4608576"/>
            <a:ext cx="146304" cy="146304"/>
          </a:xfrm>
          <a:prstGeom prst="ellipse">
            <a:avLst/>
          </a:prstGeom>
          <a:solidFill>
            <a:srgbClr val="0E8A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513064" y="4480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actions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question:  </a:t>
            </a:r>
            <a:r>
              <a:rPr lang="en-US" sz="1600" i="1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customers should we intervene on first to protect revenue?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analysis based on 5,000-customer churn dataset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146304"/>
            <a:ext cx="67025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business use only / Nur für den geschäftlichen Gebrauch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QUALITY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Performance: Logistic Regression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churn model is strong enough to support operational prioritization.</a:t>
            </a:r>
            <a:endParaRPr lang="en-US" sz="17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457200" y="2148840"/>
          <a:ext cx="60350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903720" y="2276856"/>
            <a:ext cx="50292" cy="566928"/>
          </a:xfrm>
          <a:prstGeom prst="rect">
            <a:avLst/>
          </a:prstGeom>
          <a:solidFill>
            <a:srgbClr val="0E8A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068312" y="2130552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086600" y="284378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086600" y="30998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discrimination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464040" y="2276856"/>
            <a:ext cx="50292" cy="566928"/>
          </a:xfrm>
          <a:prstGeom prst="rect">
            <a:avLst/>
          </a:prstGeom>
          <a:solidFill>
            <a:srgbClr val="1626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628632" y="2130552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9646920" y="284378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646920" y="30998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are reliable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903720" y="4105656"/>
            <a:ext cx="50292" cy="566928"/>
          </a:xfrm>
          <a:prstGeom prst="rect">
            <a:avLst/>
          </a:prstGeom>
          <a:solidFill>
            <a:srgbClr val="D991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068312" y="3959352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3800" dirty="0"/>
          </a:p>
        </p:txBody>
      </p:sp>
      <p:sp>
        <p:nvSpPr>
          <p:cNvPr id="18" name="Text 15"/>
          <p:cNvSpPr/>
          <p:nvPr/>
        </p:nvSpPr>
        <p:spPr>
          <a:xfrm>
            <a:off x="7086600" y="467258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9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086600" y="49286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most churners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464040" y="4105656"/>
            <a:ext cx="50292" cy="566928"/>
          </a:xfrm>
          <a:prstGeom prst="rect">
            <a:avLst/>
          </a:prstGeom>
          <a:solidFill>
            <a:srgbClr val="0E8A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9628632" y="3959352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</a:t>
            </a:r>
            <a:endParaRPr lang="en-US" sz="3800" dirty="0"/>
          </a:p>
        </p:txBody>
      </p:sp>
      <p:sp>
        <p:nvSpPr>
          <p:cNvPr id="22" name="Text 19"/>
          <p:cNvSpPr/>
          <p:nvPr/>
        </p:nvSpPr>
        <p:spPr>
          <a:xfrm>
            <a:off x="9646920" y="467258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46920" y="49286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performance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 </a:t>
            </a:r>
            <a:r>
              <a:rPr lang="en-US" sz="15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highly accurate and reliable for identifying churn risk.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measures ranking quality; recall emphasizes churners caught; precision emphasizes prediction reliability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146304"/>
            <a:ext cx="67025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business use only / Nur für den geschäftlichen Gebrauch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EXPLAINABILITY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Customers Churn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48639" y="1417320"/>
            <a:ext cx="7689587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highlights behavior and experience signals that management can act on.</a:t>
            </a:r>
            <a:endParaRPr lang="en-US" sz="17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411480" y="2240280"/>
          <a:ext cx="6400800" cy="3794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7178040" y="219456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F4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churn more when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223760" y="2670048"/>
            <a:ext cx="118872" cy="118872"/>
          </a:xfrm>
          <a:prstGeom prst="ellipse">
            <a:avLst/>
          </a:prstGeom>
          <a:solidFill>
            <a:srgbClr val="CF46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452360" y="25511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 not log in frequently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223760" y="3127248"/>
            <a:ext cx="118872" cy="118872"/>
          </a:xfrm>
          <a:prstGeom prst="ellipse">
            <a:avLst/>
          </a:prstGeom>
          <a:solidFill>
            <a:srgbClr val="CF46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452360" y="30083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submit many support tickets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223760" y="3584448"/>
            <a:ext cx="118872" cy="118872"/>
          </a:xfrm>
          <a:prstGeom prst="ellipse">
            <a:avLst/>
          </a:prstGeom>
          <a:solidFill>
            <a:srgbClr val="CF46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452360" y="34655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experience price increases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178040" y="4160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stay when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223760" y="4636008"/>
            <a:ext cx="118872" cy="118872"/>
          </a:xfrm>
          <a:prstGeom prst="ellipse">
            <a:avLst/>
          </a:prstGeom>
          <a:solidFill>
            <a:srgbClr val="0E8A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452360" y="451713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actively use features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223760" y="5093208"/>
            <a:ext cx="118872" cy="118872"/>
          </a:xfrm>
          <a:prstGeom prst="ellipse">
            <a:avLst/>
          </a:prstGeom>
          <a:solidFill>
            <a:srgbClr val="0E8A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452360" y="497433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still have contract time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223760" y="5550408"/>
            <a:ext cx="118872" cy="118872"/>
          </a:xfrm>
          <a:prstGeom prst="ellipse">
            <a:avLst/>
          </a:prstGeom>
          <a:solidFill>
            <a:srgbClr val="0E8A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7452360" y="543153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usage is increasing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turns the model into business insight: </a:t>
            </a:r>
            <a:r>
              <a:rPr lang="en-US" sz="13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engagement, support experience, and pricing are the levers.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impact = logistic-regression coefficient (log-odds); positive increases churn risk, negative protects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146304"/>
            <a:ext cx="67025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business use only / Nur für den geschäftlichen Gebrauch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EXPOSURE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75% churn-probability threshold, the model isolates the highest-confidence revenue risk.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551176"/>
            <a:ext cx="50292" cy="566928"/>
          </a:xfrm>
          <a:prstGeom prst="rect">
            <a:avLst/>
          </a:prstGeom>
          <a:solidFill>
            <a:srgbClr val="CF46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" y="2404872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822960" y="3118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F4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CUSTOMERS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7413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&gt;75% churn probability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105656"/>
            <a:ext cx="50292" cy="566928"/>
          </a:xfrm>
          <a:prstGeom prst="rect">
            <a:avLst/>
          </a:prstGeom>
          <a:solidFill>
            <a:srgbClr val="D991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04672" y="3959352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$422,296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22960" y="467258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9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REVENUE AT RISK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49286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retention pool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5440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threshold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" y="580644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teams on the highest-confidence churners — fewer false alarms, faster action, clearer ownership.</a:t>
            </a:r>
            <a:endParaRPr lang="en-US" sz="135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7040880" y="1874520"/>
          <a:ext cx="402336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Text 15"/>
          <p:cNvSpPr/>
          <p:nvPr/>
        </p:nvSpPr>
        <p:spPr>
          <a:xfrm>
            <a:off x="6949440" y="553212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19.8% of customers are high risk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segment = churn probability greater than 75%; safe / monitor = remaining customer base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146304"/>
            <a:ext cx="67025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business use only / Nur für den geschäftlichen Gebrauch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ACTION LIST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to Call TODAY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should immediately contact high-value customers with the highest churn risk.</a:t>
            </a:r>
            <a:endParaRPr lang="en-US" sz="1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7726680" cy="3721608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Churn Probability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Revenue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Score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CUST_3924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6B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CUST_0551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6B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CUST_2922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6B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CUST_1844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6B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CUST_2701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6B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CUST_2109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6B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CUST_3428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6B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CUST_1103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6B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CUST_0843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6B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CUST_2503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6B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595360" y="2240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score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595360" y="2651760"/>
            <a:ext cx="3154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churn probability and monthly revenue (probability x revenue) to focus CS on the largest protection opportunities.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595360" y="41605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rule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595360" y="4480560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today if churn probability exceeds 75% and revenue is top-tier.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by priority score from the live model run; priority score = churn probability x monthly revenue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146304"/>
            <a:ext cx="67025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business use only / Nur für den geschäftlichen Gebrauch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30 DAYS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Risk Customers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customers are highly likely to churn in the next 30 days — proactive retention required.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3977640" cy="3470148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C-02174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C-05513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C-03210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C-04692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C-01845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C-06031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C-00782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C-04451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C-02964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C-01508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286000"/>
          <a:ext cx="3977640" cy="3470148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C-05177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C-02459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C-03628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C-04003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C-00994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C-05820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C-01346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C-03185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C-04706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C-02671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9006840" y="22860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posture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9006840" y="29718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immediate outreach for the highest-probability customers and track daily response signals.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9006840" y="41605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 shown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9006840" y="4434840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predicted churn probability for the coming 30 days.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5806440"/>
            <a:ext cx="8138160" cy="457200"/>
          </a:xfrm>
          <a:prstGeom prst="rect">
            <a:avLst/>
          </a:prstGeom>
          <a:solidFill>
            <a:srgbClr val="FBF3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713232" y="58064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A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rows at production scale — replace IDs and values with the live 30-day XGBoost export before outreach.</a:t>
            </a:r>
            <a:endParaRPr lang="en-US" sz="1150" dirty="0"/>
          </a:p>
        </p:txBody>
      </p:sp>
      <p:sp>
        <p:nvSpPr>
          <p:cNvPr id="7" name="Text 11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Future-risk list generated from 30-day XGBoost probability scores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146304"/>
            <a:ext cx="67025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business use only / Nur für den geschäftlichen Gebrauch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RISK MODEL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Churn Prediction: XGBoost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next 30 days, the priority is catching almost all future churners — high recall by design.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276856"/>
            <a:ext cx="50292" cy="566928"/>
          </a:xfrm>
          <a:prstGeom prst="rect">
            <a:avLst/>
          </a:prstGeom>
          <a:solidFill>
            <a:srgbClr val="0E8A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" y="213055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822960" y="2843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0998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churners caught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46120" y="2276856"/>
            <a:ext cx="50292" cy="566928"/>
          </a:xfrm>
          <a:prstGeom prst="rect">
            <a:avLst/>
          </a:prstGeom>
          <a:solidFill>
            <a:srgbClr val="1626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10712" y="213055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429000" y="2843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29000" y="30998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alerts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2276856"/>
            <a:ext cx="50292" cy="566928"/>
          </a:xfrm>
          <a:prstGeom prst="rect">
            <a:avLst/>
          </a:prstGeom>
          <a:solidFill>
            <a:srgbClr val="0E8A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16752" y="213055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6035040" y="2843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35040" y="30998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balance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458200" y="2276856"/>
            <a:ext cx="50292" cy="566928"/>
          </a:xfrm>
          <a:prstGeom prst="rect">
            <a:avLst/>
          </a:prstGeom>
          <a:solidFill>
            <a:srgbClr val="D991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622792" y="213055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8641080" y="2843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9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41080" y="30998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ranking</a:t>
            </a:r>
            <a:endParaRPr lang="en-US" sz="1250" dirty="0"/>
          </a:p>
        </p:txBody>
      </p:sp>
      <p:graphicFrame>
        <p:nvGraphicFramePr>
          <p:cNvPr id="23" name="Chart 0"/>
          <p:cNvGraphicFramePr/>
          <p:nvPr/>
        </p:nvGraphicFramePr>
        <p:xfrm>
          <a:off x="457200" y="3657600"/>
          <a:ext cx="630936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Text 21"/>
          <p:cNvSpPr/>
          <p:nvPr/>
        </p:nvSpPr>
        <p:spPr>
          <a:xfrm>
            <a:off x="7178040" y="37033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7178040" y="406908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700" b="1" i="1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prioritize catching almost all future churners.”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7178040" y="489204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Operationally, the model is tuned for proactive retention, even if some lower-risk customers are included in outreach.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next-30-day model: higher recall supports proactive retention planning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146304"/>
            <a:ext cx="67025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business use only / Nur für den geschäftlichen Gebrauch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DATA TO ACTION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Strategy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churn probability and revenue value to route customers into the right retention motion.</a:t>
            </a:r>
            <a:endParaRPr lang="en-US" sz="1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64240" cy="2432304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segment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owner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626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churn + high revenue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CF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 call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 manager within 24 hours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626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churn + low revenue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D99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automation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Lifecycle campaign this week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626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churn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8A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 engagement and renewals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766560" y="48920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CF4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 CHURN RISK = high risk + high revenue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800" dirty="0"/>
          </a:p>
        </p:txBody>
      </p:sp>
      <p:sp>
        <p:nvSpPr>
          <p:cNvPr id="7" name="Text 7"/>
          <p:cNvSpPr/>
          <p:nvPr/>
        </p:nvSpPr>
        <p:spPr>
          <a:xfrm>
            <a:off x="548640" y="546811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support-ticket volume could significantly reduce churn risk, especially among high-value customers already showing low engagement.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converts model output into a repeatable retention operating model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146304"/>
            <a:ext cx="67025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business use only / Nur für den geschäftlichen Gebrauch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Business Insights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is predictable, explainable, and financially material — the next step is to take targeted retention action.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3529584" cy="2697480"/>
          </a:xfrm>
          <a:prstGeom prst="rect">
            <a:avLst/>
          </a:prstGeom>
          <a:solidFill>
            <a:srgbClr val="F2F4F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" y="271576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F4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churn drivers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3291840"/>
            <a:ext cx="118872" cy="118872"/>
          </a:xfrm>
          <a:prstGeom prst="ellipse">
            <a:avLst/>
          </a:prstGeom>
          <a:solidFill>
            <a:srgbClr val="CF46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3172968"/>
            <a:ext cx="2798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engagement</a:t>
            </a:r>
            <a:r>
              <a:rPr lang="en-US" sz="13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(days_since_login)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3858768"/>
            <a:ext cx="118872" cy="118872"/>
          </a:xfrm>
          <a:prstGeom prst="ellipse">
            <a:avLst/>
          </a:prstGeom>
          <a:solidFill>
            <a:srgbClr val="CF46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51560" y="3739896"/>
            <a:ext cx="2798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experience</a:t>
            </a:r>
            <a:r>
              <a:rPr lang="en-US" sz="13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(support tickets)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4425696"/>
            <a:ext cx="118872" cy="118872"/>
          </a:xfrm>
          <a:prstGeom prst="ellipse">
            <a:avLst/>
          </a:prstGeom>
          <a:solidFill>
            <a:srgbClr val="CF46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51560" y="4306824"/>
            <a:ext cx="2798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changes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325112" y="2514600"/>
            <a:ext cx="3529584" cy="2697480"/>
          </a:xfrm>
          <a:prstGeom prst="rect">
            <a:avLst/>
          </a:prstGeom>
          <a:solidFill>
            <a:srgbClr val="FBF3E1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81144" y="271576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risk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62856" y="3118104"/>
            <a:ext cx="3072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D9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$422K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4581144" y="3886200"/>
            <a:ext cx="3026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revenue at risk in the high-confidence segment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81144" y="4572000"/>
            <a:ext cx="3026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990 high-risk customers above the 75% threshold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01584" y="2514600"/>
            <a:ext cx="3529584" cy="2697480"/>
          </a:xfrm>
          <a:prstGeom prst="rect">
            <a:avLst/>
          </a:prstGeom>
          <a:solidFill>
            <a:srgbClr val="E6F3F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357616" y="271576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now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375904" y="3337560"/>
            <a:ext cx="118872" cy="118872"/>
          </a:xfrm>
          <a:prstGeom prst="ellipse">
            <a:avLst/>
          </a:prstGeom>
          <a:solidFill>
            <a:srgbClr val="0E8A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604504" y="3218688"/>
            <a:ext cx="2798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high-value churners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3904488"/>
            <a:ext cx="118872" cy="118872"/>
          </a:xfrm>
          <a:prstGeom prst="ellipse">
            <a:avLst/>
          </a:prstGeom>
          <a:solidFill>
            <a:srgbClr val="0E8A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604504" y="3785616"/>
            <a:ext cx="2798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product engagement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375904" y="4471416"/>
            <a:ext cx="118872" cy="118872"/>
          </a:xfrm>
          <a:prstGeom prst="ellipse">
            <a:avLst/>
          </a:prstGeom>
          <a:solidFill>
            <a:srgbClr val="0E8A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604504" y="4352544"/>
            <a:ext cx="2798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support issues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request:  </a:t>
            </a:r>
            <a:r>
              <a:rPr lang="en-US" sz="15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a high-risk retention sprint this week, using the top-customer list as the daily call queue.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summary: churn risk model, revenue exposure, and prioritized actions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146304"/>
            <a:ext cx="67025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business use only / Nur für den geschäftlichen Gebrauch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FLOW / PROCESS PIPELINE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Churn Modeling Process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Python workflow to customer retention action — each code block creates a business artifact.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1792224" cy="2331720"/>
          </a:xfrm>
          <a:prstGeom prst="rect">
            <a:avLst/>
          </a:prstGeom>
          <a:solidFill>
            <a:srgbClr val="F2F4F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13232" y="2514600"/>
            <a:ext cx="457200" cy="457200"/>
          </a:xfrm>
          <a:prstGeom prst="ellipse">
            <a:avLst/>
          </a:prstGeom>
          <a:solidFill>
            <a:srgbClr val="0E8A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13232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4944" y="3063240"/>
            <a:ext cx="1517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&amp; clean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94944" y="3538728"/>
            <a:ext cx="1536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customer, usage, support, pricing and revenue fields.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94944" y="4325112"/>
            <a:ext cx="1517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dataset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322576" y="31089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441448" y="2331720"/>
            <a:ext cx="1792224" cy="2331720"/>
          </a:xfrm>
          <a:prstGeom prst="rect">
            <a:avLst/>
          </a:prstGeom>
          <a:solidFill>
            <a:srgbClr val="F2F4F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606040" y="2514600"/>
            <a:ext cx="457200" cy="457200"/>
          </a:xfrm>
          <a:prstGeom prst="ellipse">
            <a:avLst/>
          </a:prstGeom>
          <a:solidFill>
            <a:srgbClr val="1626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0604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587752" y="3063240"/>
            <a:ext cx="1517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features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587752" y="3538728"/>
            <a:ext cx="1536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engagement, support, contract and usage signals.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587752" y="4325112"/>
            <a:ext cx="1517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table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215384" y="31089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334256" y="2331720"/>
            <a:ext cx="1792224" cy="2331720"/>
          </a:xfrm>
          <a:prstGeom prst="rect">
            <a:avLst/>
          </a:prstGeom>
          <a:solidFill>
            <a:srgbClr val="F2F4F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498848" y="2514600"/>
            <a:ext cx="457200" cy="457200"/>
          </a:xfrm>
          <a:prstGeom prst="ellipse">
            <a:avLst/>
          </a:prstGeom>
          <a:solidFill>
            <a:srgbClr val="0E8A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98848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480560" y="3063240"/>
            <a:ext cx="1517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models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80560" y="3538728"/>
            <a:ext cx="1536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Logistic Regression and XGBoost churn models.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480560" y="4325112"/>
            <a:ext cx="1517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models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108192" y="31089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227064" y="2331720"/>
            <a:ext cx="1792224" cy="2331720"/>
          </a:xfrm>
          <a:prstGeom prst="rect">
            <a:avLst/>
          </a:prstGeom>
          <a:solidFill>
            <a:srgbClr val="F2F4F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391656" y="2514600"/>
            <a:ext cx="457200" cy="457200"/>
          </a:xfrm>
          <a:prstGeom prst="ellipse">
            <a:avLst/>
          </a:prstGeom>
          <a:solidFill>
            <a:srgbClr val="D991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391656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373368" y="3063240"/>
            <a:ext cx="1517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73368" y="3538728"/>
            <a:ext cx="1536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AUC, recall, precision and F1 against business goals.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373368" y="4325112"/>
            <a:ext cx="1517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metrics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01000" y="31089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8119872" y="2331720"/>
            <a:ext cx="1792224" cy="2331720"/>
          </a:xfrm>
          <a:prstGeom prst="rect">
            <a:avLst/>
          </a:prstGeom>
          <a:solidFill>
            <a:srgbClr val="F2F4F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284464" y="2514600"/>
            <a:ext cx="457200" cy="457200"/>
          </a:xfrm>
          <a:prstGeom prst="ellipse">
            <a:avLst/>
          </a:prstGeom>
          <a:solidFill>
            <a:srgbClr val="CF46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284464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8266176" y="3063240"/>
            <a:ext cx="1517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&amp; segment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266176" y="3538728"/>
            <a:ext cx="1536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churn probability, revenue risk and priority score.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66176" y="4325112"/>
            <a:ext cx="1517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F4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ranked list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893808" y="31089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10012680" y="2331720"/>
            <a:ext cx="1792224" cy="2331720"/>
          </a:xfrm>
          <a:prstGeom prst="rect">
            <a:avLst/>
          </a:prstGeom>
          <a:solidFill>
            <a:srgbClr val="F2F4F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10177272" y="2514600"/>
            <a:ext cx="457200" cy="457200"/>
          </a:xfrm>
          <a:prstGeom prst="ellipse">
            <a:avLst/>
          </a:prstGeom>
          <a:solidFill>
            <a:srgbClr val="0B6B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0177272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0158984" y="3063240"/>
            <a:ext cx="1517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&amp; monitor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158984" y="3538728"/>
            <a:ext cx="1536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VIP churn risk to calls, automation or monitoring.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10158984" y="4325112"/>
            <a:ext cx="1517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queue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48640" y="49834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 flipH="1">
            <a:off x="566928" y="5440680"/>
            <a:ext cx="1920240" cy="0"/>
          </a:xfrm>
          <a:prstGeom prst="line">
            <a:avLst/>
          </a:prstGeom>
          <a:noFill/>
          <a:ln w="28575">
            <a:solidFill>
              <a:srgbClr val="0E8A7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2743200" y="493776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outcomes and new behavior are logged back into the dataset, so thresholds, features and models improve over time.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visualization: data preparation → model training → scoring → retention operations → monitoring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e4bc684-102f-461d-a6dc-b1e58752f380}" enabled="1" method="Standard" siteId="{2d75a51b-29e5-45d5-a5c5-5aa979cb6a28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1292</Words>
  <Application>Microsoft Office PowerPoint</Application>
  <PresentationFormat>Widescreen</PresentationFormat>
  <Paragraphs>322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Churn Prediction &amp; Revenue Risk Analysis</dc:title>
  <dc:subject>PptxGenJS Presentation</dc:subject>
  <dc:creator>Mike</dc:creator>
  <cp:lastModifiedBy>Uhrinek, Michal</cp:lastModifiedBy>
  <cp:revision>4</cp:revision>
  <dcterms:created xsi:type="dcterms:W3CDTF">2026-06-18T13:35:52Z</dcterms:created>
  <dcterms:modified xsi:type="dcterms:W3CDTF">2026-06-19T04:55:30Z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Theme:3</vt:lpwstr>
  </property>
  <property fmtid="{D5CDD505-2E9C-101B-9397-08002B2CF9AE}" pid="3" name="ClassificationContentMarkingHeaderText">
    <vt:lpwstr>For business use only / Nur für den geschäftlichen Gebrauch</vt:lpwstr>
  </property>
</Properties>
</file>